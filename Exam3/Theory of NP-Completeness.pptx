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32"/>
  </p:notesMasterIdLst>
  <p:handoutMasterIdLst>
    <p:handoutMasterId r:id="rId33"/>
  </p:handoutMasterIdLst>
  <p:sldIdLst>
    <p:sldId id="257" r:id="rId5"/>
    <p:sldId id="268" r:id="rId6"/>
    <p:sldId id="272" r:id="rId7"/>
    <p:sldId id="273" r:id="rId8"/>
    <p:sldId id="274" r:id="rId9"/>
    <p:sldId id="275" r:id="rId10"/>
    <p:sldId id="276" r:id="rId11"/>
    <p:sldId id="277" r:id="rId12"/>
    <p:sldId id="278" r:id="rId13"/>
    <p:sldId id="279" r:id="rId14"/>
    <p:sldId id="280" r:id="rId15"/>
    <p:sldId id="281" r:id="rId16"/>
    <p:sldId id="282" r:id="rId17"/>
    <p:sldId id="283" r:id="rId18"/>
    <p:sldId id="284" r:id="rId19"/>
    <p:sldId id="285" r:id="rId20"/>
    <p:sldId id="286" r:id="rId21"/>
    <p:sldId id="287" r:id="rId22"/>
    <p:sldId id="291" r:id="rId23"/>
    <p:sldId id="288" r:id="rId24"/>
    <p:sldId id="292" r:id="rId25"/>
    <p:sldId id="289" r:id="rId26"/>
    <p:sldId id="293" r:id="rId27"/>
    <p:sldId id="294" r:id="rId28"/>
    <p:sldId id="295" r:id="rId29"/>
    <p:sldId id="296" r:id="rId30"/>
    <p:sldId id="290" r:id="rId31"/>
  </p:sldIdLst>
  <p:sldSz cx="12188825" cy="6858000"/>
  <p:notesSz cx="6858000" cy="9144000"/>
  <p:defaultTextStyle>
    <a:defPPr>
      <a:defRPr lang="en-US"/>
    </a:defPPr>
    <a:lvl1pPr marL="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5" pos="383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94404"/>
    <a:srgbClr val="5F6F0F"/>
    <a:srgbClr val="718412"/>
    <a:srgbClr val="65741A"/>
    <a:srgbClr val="70811D"/>
    <a:srgbClr val="7B8D1F"/>
    <a:srgbClr val="839721"/>
    <a:srgbClr val="95AB25"/>
    <a:srgbClr val="BC5500"/>
    <a:srgbClr val="C45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>
      <p:cViewPr varScale="1">
        <p:scale>
          <a:sx n="68" d="100"/>
          <a:sy n="68" d="100"/>
        </p:scale>
        <p:origin x="738" y="72"/>
      </p:cViewPr>
      <p:guideLst>
        <p:guide orient="horz" pos="2160"/>
        <p:guide pos="3839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63" d="100"/>
          <a:sy n="63" d="100"/>
        </p:scale>
        <p:origin x="2838" y="108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notesMaster" Target="notesMasters/notesMaster1.xml"/><Relationship Id="rId37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viewProps" Target="view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5B4EDC-59C0-49C7-8ADA-5A781B329E02}" type="datetimeFigureOut">
              <a:rPr lang="en-US"/>
              <a:t>12/5/2023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429053-DC2A-4342-ADD4-2FD729D91E2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3204575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D8D46A-B586-417D-BFBD-8C8FE0AAF762}" type="datetimeFigureOut">
              <a:rPr lang="en-US"/>
              <a:t>12/5/2023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BA5BD7-F043-4D1B-AA17-CD412FC534DE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67057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diagonals"/>
          <p:cNvGrpSpPr/>
          <p:nvPr/>
        </p:nvGrpSpPr>
        <p:grpSpPr>
          <a:xfrm>
            <a:off x="7516443" y="4145281"/>
            <a:ext cx="4686117" cy="2731407"/>
            <a:chOff x="5638800" y="3108960"/>
            <a:chExt cx="3515503" cy="2048555"/>
          </a:xfrm>
        </p:grpSpPr>
        <p:cxnSp>
          <p:nvCxnSpPr>
            <p:cNvPr id="14" name="Straight Connector 13"/>
            <p:cNvCxnSpPr/>
            <p:nvPr/>
          </p:nvCxnSpPr>
          <p:spPr>
            <a:xfrm flipV="1">
              <a:off x="5638800" y="3108960"/>
              <a:ext cx="3515503" cy="2037116"/>
            </a:xfrm>
            <a:prstGeom prst="line">
              <a:avLst/>
            </a:pr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 flipV="1">
              <a:off x="6004643" y="3333750"/>
              <a:ext cx="3149660" cy="1823765"/>
            </a:xfrm>
            <a:prstGeom prst="line">
              <a:avLst/>
            </a:pr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 flipV="1">
              <a:off x="6388342" y="3549891"/>
              <a:ext cx="2765961" cy="1600149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12" name="bottom lines"/>
          <p:cNvGrpSpPr/>
          <p:nvPr/>
        </p:nvGrpSpPr>
        <p:grpSpPr>
          <a:xfrm>
            <a:off x="-8916" y="6057149"/>
            <a:ext cx="5498726" cy="820207"/>
            <a:chOff x="-6689" y="4553748"/>
            <a:chExt cx="4125119" cy="615155"/>
          </a:xfrm>
        </p:grpSpPr>
        <p:sp>
          <p:nvSpPr>
            <p:cNvPr id="9" name="Freeform 8"/>
            <p:cNvSpPr/>
            <p:nvPr/>
          </p:nvSpPr>
          <p:spPr>
            <a:xfrm rot="16200000">
              <a:off x="1754302" y="2802395"/>
              <a:ext cx="612775" cy="411548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4115481 h 4115481"/>
                <a:gd name="connsiteX1" fmla="*/ 612775 w 612775"/>
                <a:gd name="connsiteY1" fmla="*/ 3180443 h 4115481"/>
                <a:gd name="connsiteX2" fmla="*/ 612775 w 612775"/>
                <a:gd name="connsiteY2" fmla="*/ 0 h 4115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12775" h="4115481">
                  <a:moveTo>
                    <a:pt x="0" y="4115481"/>
                  </a:moveTo>
                  <a:lnTo>
                    <a:pt x="612775" y="3180443"/>
                  </a:lnTo>
                  <a:lnTo>
                    <a:pt x="612775" y="0"/>
                  </a:lnTo>
                </a:path>
              </a:pathLst>
            </a:cu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  <p:sp>
          <p:nvSpPr>
            <p:cNvPr id="10" name="Freeform 9"/>
            <p:cNvSpPr/>
            <p:nvPr/>
          </p:nvSpPr>
          <p:spPr>
            <a:xfrm rot="16200000">
              <a:off x="1604659" y="3152814"/>
              <a:ext cx="410751" cy="3621427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202024 w 612775"/>
                <a:gd name="connsiteY1" fmla="*/ 3607676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10751 w 410751"/>
                <a:gd name="connsiteY2" fmla="*/ 0 h 3607676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09575 w 410751"/>
                <a:gd name="connsiteY2" fmla="*/ 185820 h 3607676"/>
                <a:gd name="connsiteX3" fmla="*/ 410751 w 410751"/>
                <a:gd name="connsiteY3" fmla="*/ 0 h 3607676"/>
                <a:gd name="connsiteX0" fmla="*/ 0 w 410751"/>
                <a:gd name="connsiteY0" fmla="*/ 3421856 h 3421856"/>
                <a:gd name="connsiteX1" fmla="*/ 410751 w 410751"/>
                <a:gd name="connsiteY1" fmla="*/ 2798680 h 3421856"/>
                <a:gd name="connsiteX2" fmla="*/ 409575 w 410751"/>
                <a:gd name="connsiteY2" fmla="*/ 0 h 3421856"/>
                <a:gd name="connsiteX0" fmla="*/ 0 w 410751"/>
                <a:gd name="connsiteY0" fmla="*/ 3614170 h 3614170"/>
                <a:gd name="connsiteX1" fmla="*/ 410751 w 410751"/>
                <a:gd name="connsiteY1" fmla="*/ 2990994 h 3614170"/>
                <a:gd name="connsiteX2" fmla="*/ 405947 w 410751"/>
                <a:gd name="connsiteY2" fmla="*/ 0 h 3614170"/>
                <a:gd name="connsiteX0" fmla="*/ 0 w 410751"/>
                <a:gd name="connsiteY0" fmla="*/ 3621427 h 3621427"/>
                <a:gd name="connsiteX1" fmla="*/ 410751 w 410751"/>
                <a:gd name="connsiteY1" fmla="*/ 2998251 h 3621427"/>
                <a:gd name="connsiteX2" fmla="*/ 405947 w 410751"/>
                <a:gd name="connsiteY2" fmla="*/ 0 h 3621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0751" h="3621427">
                  <a:moveTo>
                    <a:pt x="0" y="3621427"/>
                  </a:moveTo>
                  <a:lnTo>
                    <a:pt x="410751" y="2998251"/>
                  </a:lnTo>
                  <a:cubicBezTo>
                    <a:pt x="410359" y="2065358"/>
                    <a:pt x="406339" y="932893"/>
                    <a:pt x="405947" y="0"/>
                  </a:cubicBezTo>
                </a:path>
              </a:pathLst>
            </a:cu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  <p:sp>
          <p:nvSpPr>
            <p:cNvPr id="11" name="Freeform 10"/>
            <p:cNvSpPr/>
            <p:nvPr/>
          </p:nvSpPr>
          <p:spPr>
            <a:xfrm rot="16200000">
              <a:off x="1462308" y="3453376"/>
              <a:ext cx="241768" cy="317976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373856 w 612775"/>
                <a:gd name="connsiteY1" fmla="*/ 3344891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919 w 238919"/>
                <a:gd name="connsiteY2" fmla="*/ 0 h 3344891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125 w 238919"/>
                <a:gd name="connsiteY2" fmla="*/ 368330 h 3344891"/>
                <a:gd name="connsiteX3" fmla="*/ 238919 w 238919"/>
                <a:gd name="connsiteY3" fmla="*/ 0 h 3344891"/>
                <a:gd name="connsiteX0" fmla="*/ 0 w 238919"/>
                <a:gd name="connsiteY0" fmla="*/ 2976561 h 2976561"/>
                <a:gd name="connsiteX1" fmla="*/ 238919 w 238919"/>
                <a:gd name="connsiteY1" fmla="*/ 2616170 h 2976561"/>
                <a:gd name="connsiteX2" fmla="*/ 238125 w 238919"/>
                <a:gd name="connsiteY2" fmla="*/ 0 h 2976561"/>
                <a:gd name="connsiteX0" fmla="*/ 0 w 241768"/>
                <a:gd name="connsiteY0" fmla="*/ 3179761 h 3179761"/>
                <a:gd name="connsiteX1" fmla="*/ 238919 w 241768"/>
                <a:gd name="connsiteY1" fmla="*/ 2819370 h 3179761"/>
                <a:gd name="connsiteX2" fmla="*/ 241754 w 241768"/>
                <a:gd name="connsiteY2" fmla="*/ 0 h 3179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41768" h="3179761">
                  <a:moveTo>
                    <a:pt x="0" y="3179761"/>
                  </a:moveTo>
                  <a:lnTo>
                    <a:pt x="238919" y="2819370"/>
                  </a:lnTo>
                  <a:cubicBezTo>
                    <a:pt x="238654" y="1947313"/>
                    <a:pt x="242019" y="872057"/>
                    <a:pt x="241754" y="0"/>
                  </a:cubicBezTo>
                </a:path>
              </a:pathLst>
            </a:cu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25176" y="584200"/>
            <a:ext cx="8735325" cy="2000251"/>
          </a:xfrm>
        </p:spPr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25176" y="2616200"/>
            <a:ext cx="8735325" cy="175260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800" cap="all" spc="200" baseline="0">
                <a:solidFill>
                  <a:schemeClr val="accent1"/>
                </a:solidFill>
              </a:defRPr>
            </a:lvl1pPr>
            <a:lvl2pPr marL="609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2" name="Date Placeholder 2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12/5/2023</a:t>
            </a:fld>
            <a:endParaRPr/>
          </a:p>
        </p:txBody>
      </p:sp>
      <p:sp>
        <p:nvSpPr>
          <p:cNvPr id="23" name="Footer Placeholder 2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24" name="Slide Number Placeholder 2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474885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12/5/2023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067690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diagonals"/>
          <p:cNvGrpSpPr/>
          <p:nvPr/>
        </p:nvGrpSpPr>
        <p:grpSpPr>
          <a:xfrm>
            <a:off x="7516443" y="4145281"/>
            <a:ext cx="4686117" cy="2731407"/>
            <a:chOff x="5638800" y="3108960"/>
            <a:chExt cx="3515503" cy="2048555"/>
          </a:xfrm>
        </p:grpSpPr>
        <p:cxnSp>
          <p:nvCxnSpPr>
            <p:cNvPr id="12" name="Straight Connector 11"/>
            <p:cNvCxnSpPr/>
            <p:nvPr/>
          </p:nvCxnSpPr>
          <p:spPr>
            <a:xfrm flipV="1">
              <a:off x="5638800" y="3108960"/>
              <a:ext cx="3515503" cy="2037116"/>
            </a:xfrm>
            <a:prstGeom prst="line">
              <a:avLst/>
            </a:pr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 flipV="1">
              <a:off x="6004643" y="3333750"/>
              <a:ext cx="3149660" cy="1823765"/>
            </a:xfrm>
            <a:prstGeom prst="line">
              <a:avLst/>
            </a:pr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flipV="1">
              <a:off x="6388342" y="3549891"/>
              <a:ext cx="2765961" cy="1600149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5177" y="2209801"/>
            <a:ext cx="8938472" cy="2764335"/>
          </a:xfrm>
        </p:spPr>
        <p:txBody>
          <a:bodyPr anchor="b">
            <a:normAutofit/>
          </a:bodyPr>
          <a:lstStyle>
            <a:lvl1pPr algn="l">
              <a:defRPr sz="5400" b="0" cap="none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5176" y="4951266"/>
            <a:ext cx="7069519" cy="1220933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buNone/>
              <a:defRPr sz="2800" cap="all" spc="200" baseline="0">
                <a:solidFill>
                  <a:schemeClr val="accent1"/>
                </a:solidFill>
              </a:defRPr>
            </a:lvl1pPr>
            <a:lvl2pPr marL="609493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8987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3pPr>
            <a:lvl4pPr marL="182848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 marL="243797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lvl6pPr marL="304746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6pPr>
            <a:lvl7pPr marL="365696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7pPr>
            <a:lvl8pPr marL="426645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8pPr>
            <a:lvl9pPr marL="487594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12/5/2023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163306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18883" y="1706880"/>
            <a:ext cx="5078677" cy="446532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00707" y="1706880"/>
            <a:ext cx="5078677" cy="446532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12/5/2023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576477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8883" y="1701800"/>
            <a:ext cx="5082740" cy="91440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800" b="0" cap="all" spc="200" baseline="0">
                <a:solidFill>
                  <a:schemeClr val="accent1"/>
                </a:solidFill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18883" y="2717800"/>
            <a:ext cx="5078677" cy="3454400"/>
          </a:xfrm>
        </p:spPr>
        <p:txBody>
          <a:bodyPr>
            <a:no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 baseline="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96644" y="1701800"/>
            <a:ext cx="5082740" cy="91440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800" b="0" cap="all" spc="200" baseline="0">
                <a:solidFill>
                  <a:schemeClr val="accent1"/>
                </a:solidFill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00707" y="2717800"/>
            <a:ext cx="5078677" cy="3454400"/>
          </a:xfrm>
        </p:spPr>
        <p:txBody>
          <a:bodyPr>
            <a:no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 baseline="0"/>
            </a:lvl6pPr>
            <a:lvl7pPr>
              <a:defRPr sz="2000" baseline="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12/5/2023</a:t>
            </a:fld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95381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12/5/2023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152291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12/5/2023</a:t>
            </a:fld>
            <a:endParaRPr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724785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8882" y="1701800"/>
            <a:ext cx="4062942" cy="2438400"/>
          </a:xfrm>
        </p:spPr>
        <p:txBody>
          <a:bodyPr anchor="b">
            <a:normAutofit/>
          </a:bodyPr>
          <a:lstStyle>
            <a:lvl1pPr algn="l">
              <a:defRPr sz="2800" b="0" cap="all" spc="20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18882" y="4241800"/>
            <a:ext cx="4062942" cy="19304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4971" y="584200"/>
            <a:ext cx="6094413" cy="55880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12/5/2023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181393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8882" y="1701800"/>
            <a:ext cx="4062942" cy="2438400"/>
          </a:xfrm>
        </p:spPr>
        <p:txBody>
          <a:bodyPr anchor="b">
            <a:normAutofit/>
          </a:bodyPr>
          <a:lstStyle>
            <a:lvl1pPr algn="l">
              <a:defRPr sz="2800" b="0" cap="all" spc="20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18882" y="4241800"/>
            <a:ext cx="4062942" cy="19304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5484971" y="584200"/>
            <a:ext cx="6094413" cy="5588000"/>
          </a:xfrm>
          <a:ln w="12700">
            <a:solidFill>
              <a:schemeClr val="bg1">
                <a:lumMod val="75000"/>
                <a:lumOff val="25000"/>
              </a:schemeClr>
            </a:solidFill>
            <a:miter lim="800000"/>
          </a:ln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609493" indent="0">
              <a:buNone/>
              <a:defRPr sz="3700"/>
            </a:lvl2pPr>
            <a:lvl3pPr marL="1218987" indent="0">
              <a:buNone/>
              <a:defRPr sz="3200"/>
            </a:lvl3pPr>
            <a:lvl4pPr marL="1828480" indent="0">
              <a:buNone/>
              <a:defRPr sz="2700"/>
            </a:lvl4pPr>
            <a:lvl5pPr marL="2437973" indent="0">
              <a:buNone/>
              <a:defRPr sz="2700"/>
            </a:lvl5pPr>
            <a:lvl6pPr marL="3047467" indent="0">
              <a:buNone/>
              <a:defRPr sz="2700"/>
            </a:lvl6pPr>
            <a:lvl7pPr marL="3656960" indent="0">
              <a:buNone/>
              <a:defRPr sz="2700"/>
            </a:lvl7pPr>
            <a:lvl8pPr marL="4266453" indent="0">
              <a:buNone/>
              <a:defRPr sz="2700"/>
            </a:lvl8pPr>
            <a:lvl9pPr marL="4875947" indent="0">
              <a:buNone/>
              <a:defRPr sz="27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12/5/2023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234316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12/5/2023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96675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584200"/>
            <a:ext cx="2742486" cy="5588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18882" y="584200"/>
            <a:ext cx="7414869" cy="5588000"/>
          </a:xfrm>
        </p:spPr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12/5/2023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95886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2">
                <a:tint val="100000"/>
                <a:shade val="0"/>
                <a:satMod val="100000"/>
              </a:schemeClr>
            </a:gs>
            <a:gs pos="85000">
              <a:schemeClr val="bg2">
                <a:tint val="100000"/>
                <a:shade val="30000"/>
                <a:satMod val="100000"/>
              </a:schemeClr>
            </a:gs>
            <a:gs pos="100000">
              <a:schemeClr val="bg2">
                <a:shade val="60000"/>
                <a:satMod val="100000"/>
              </a:schemeClr>
            </a:gs>
          </a:gsLst>
          <a:lin ang="36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left lines"/>
          <p:cNvGrpSpPr/>
          <p:nvPr/>
        </p:nvGrpSpPr>
        <p:grpSpPr>
          <a:xfrm>
            <a:off x="-15870" y="-3174"/>
            <a:ext cx="819993" cy="5229225"/>
            <a:chOff x="-11906" y="-2381"/>
            <a:chExt cx="615155" cy="3921919"/>
          </a:xfrm>
        </p:grpSpPr>
        <p:sp>
          <p:nvSpPr>
            <p:cNvPr id="10" name="Freeform 9"/>
            <p:cNvSpPr/>
            <p:nvPr/>
          </p:nvSpPr>
          <p:spPr>
            <a:xfrm>
              <a:off x="-9526" y="0"/>
              <a:ext cx="612775" cy="3919538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12775" h="3919538">
                  <a:moveTo>
                    <a:pt x="0" y="3919538"/>
                  </a:moveTo>
                  <a:lnTo>
                    <a:pt x="612775" y="2984500"/>
                  </a:lnTo>
                  <a:lnTo>
                    <a:pt x="612775" y="0"/>
                  </a:lnTo>
                </a:path>
              </a:pathLst>
            </a:cu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Freeform 10"/>
            <p:cNvSpPr/>
            <p:nvPr/>
          </p:nvSpPr>
          <p:spPr>
            <a:xfrm>
              <a:off x="-11906" y="0"/>
              <a:ext cx="410751" cy="3421856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202024 w 612775"/>
                <a:gd name="connsiteY1" fmla="*/ 3607676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10751 w 410751"/>
                <a:gd name="connsiteY2" fmla="*/ 0 h 3607676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09575 w 410751"/>
                <a:gd name="connsiteY2" fmla="*/ 185820 h 3607676"/>
                <a:gd name="connsiteX3" fmla="*/ 410751 w 410751"/>
                <a:gd name="connsiteY3" fmla="*/ 0 h 3607676"/>
                <a:gd name="connsiteX0" fmla="*/ 0 w 410751"/>
                <a:gd name="connsiteY0" fmla="*/ 3421856 h 3421856"/>
                <a:gd name="connsiteX1" fmla="*/ 410751 w 410751"/>
                <a:gd name="connsiteY1" fmla="*/ 2798680 h 3421856"/>
                <a:gd name="connsiteX2" fmla="*/ 409575 w 410751"/>
                <a:gd name="connsiteY2" fmla="*/ 0 h 3421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0751" h="3421856">
                  <a:moveTo>
                    <a:pt x="0" y="3421856"/>
                  </a:moveTo>
                  <a:lnTo>
                    <a:pt x="410751" y="2798680"/>
                  </a:lnTo>
                  <a:lnTo>
                    <a:pt x="409575" y="0"/>
                  </a:lnTo>
                </a:path>
              </a:pathLst>
            </a:cu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Freeform 13"/>
            <p:cNvSpPr/>
            <p:nvPr/>
          </p:nvSpPr>
          <p:spPr>
            <a:xfrm>
              <a:off x="-7144" y="-2381"/>
              <a:ext cx="238919" cy="297656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373856 w 612775"/>
                <a:gd name="connsiteY1" fmla="*/ 3344891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919 w 238919"/>
                <a:gd name="connsiteY2" fmla="*/ 0 h 3344891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125 w 238919"/>
                <a:gd name="connsiteY2" fmla="*/ 368330 h 3344891"/>
                <a:gd name="connsiteX3" fmla="*/ 238919 w 238919"/>
                <a:gd name="connsiteY3" fmla="*/ 0 h 3344891"/>
                <a:gd name="connsiteX0" fmla="*/ 0 w 238919"/>
                <a:gd name="connsiteY0" fmla="*/ 2976561 h 2976561"/>
                <a:gd name="connsiteX1" fmla="*/ 238919 w 238919"/>
                <a:gd name="connsiteY1" fmla="*/ 2616170 h 2976561"/>
                <a:gd name="connsiteX2" fmla="*/ 238125 w 238919"/>
                <a:gd name="connsiteY2" fmla="*/ 0 h 2976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38919" h="2976561">
                  <a:moveTo>
                    <a:pt x="0" y="2976561"/>
                  </a:moveTo>
                  <a:lnTo>
                    <a:pt x="238919" y="2616170"/>
                  </a:lnTo>
                  <a:cubicBezTo>
                    <a:pt x="238654" y="1744113"/>
                    <a:pt x="238390" y="872057"/>
                    <a:pt x="238125" y="0"/>
                  </a:cubicBezTo>
                </a:path>
              </a:pathLst>
            </a:cu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18883" y="274637"/>
            <a:ext cx="10360501" cy="1223963"/>
          </a:xfrm>
          <a:prstGeom prst="rect">
            <a:avLst/>
          </a:prstGeom>
        </p:spPr>
        <p:txBody>
          <a:bodyPr vert="horz" lIns="121899" tIns="60949" rIns="121899" bIns="60949" rtlCol="0" anchor="b">
            <a:norm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8883" y="1701797"/>
            <a:ext cx="10360501" cy="4462272"/>
          </a:xfrm>
          <a:prstGeom prst="rect">
            <a:avLst/>
          </a:prstGeom>
        </p:spPr>
        <p:txBody>
          <a:bodyPr vert="horz" lIns="121899" tIns="60949" rIns="121899" bIns="60949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18882" y="6356352"/>
            <a:ext cx="2234618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DFD029-FB74-4578-B929-F66AA97659CA}" type="datetimeFigureOut">
              <a:rPr lang="en-US"/>
              <a:pPr/>
              <a:t>12/5/2023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53501" y="6356352"/>
            <a:ext cx="5281824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63649" y="6356352"/>
            <a:ext cx="1015735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14DD1E-5D91-48A3-AD6D-45FBA980D106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9527588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1218987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47" indent="-304747" algn="l" defTabSz="1218987" rtl="0" eaLnBrk="1" latinLnBrk="0" hangingPunct="1">
        <a:lnSpc>
          <a:spcPct val="90000"/>
        </a:lnSpc>
        <a:spcBef>
          <a:spcPts val="1600"/>
        </a:spcBef>
        <a:buClr>
          <a:schemeClr val="accent1"/>
        </a:buClr>
        <a:buSzPct val="100000"/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4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218987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2373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82848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133227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243797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74272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Theory of NP-Completeness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 Brief overview</a:t>
            </a:r>
          </a:p>
        </p:txBody>
      </p:sp>
    </p:spTree>
    <p:extLst>
      <p:ext uri="{BB962C8B-B14F-4D97-AF65-F5344CB8AC3E}">
        <p14:creationId xmlns:p14="http://schemas.microsoft.com/office/powerpoint/2010/main" val="1332291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C000"/>
                </a:solidFill>
              </a:rPr>
              <a:t>Decision Problems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The theory of NP-completeness is based on </a:t>
            </a:r>
            <a:r>
              <a:rPr lang="en-US" sz="3600" b="1" dirty="0">
                <a:solidFill>
                  <a:srgbClr val="FFC000"/>
                </a:solidFill>
              </a:rPr>
              <a:t>decision problems</a:t>
            </a:r>
            <a:r>
              <a:rPr lang="en-US" sz="3600" b="1" dirty="0"/>
              <a:t>.</a:t>
            </a:r>
            <a:endParaRPr lang="en-US" sz="3600" dirty="0"/>
          </a:p>
          <a:p>
            <a:r>
              <a:rPr lang="en-US" sz="3600" dirty="0"/>
              <a:t>A </a:t>
            </a:r>
            <a:r>
              <a:rPr lang="en-US" sz="3600" b="1" dirty="0">
                <a:solidFill>
                  <a:srgbClr val="FFC000"/>
                </a:solidFill>
              </a:rPr>
              <a:t>decision problem </a:t>
            </a:r>
            <a:r>
              <a:rPr lang="en-US" sz="3600" dirty="0"/>
              <a:t>is a problem that has only two possible answers: </a:t>
            </a:r>
            <a:r>
              <a:rPr lang="en-US" sz="36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yes</a:t>
            </a:r>
            <a:r>
              <a:rPr lang="en-US" sz="3600" dirty="0"/>
              <a:t> or </a:t>
            </a:r>
            <a:r>
              <a:rPr lang="en-US" sz="36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no</a:t>
            </a:r>
            <a:r>
              <a:rPr lang="en-US" sz="3600" dirty="0"/>
              <a:t> (or as Turing machines: </a:t>
            </a:r>
            <a:r>
              <a:rPr lang="en-US" sz="36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accept</a:t>
            </a:r>
            <a:r>
              <a:rPr lang="en-US" sz="3600" dirty="0"/>
              <a:t> or </a:t>
            </a:r>
            <a:r>
              <a:rPr lang="en-US" sz="36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reject</a:t>
            </a:r>
            <a:r>
              <a:rPr lang="en-US" sz="36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5291143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C000"/>
                </a:solidFill>
              </a:rPr>
              <a:t>Decision Problems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Hamiltonian Cycle Problem (as a </a:t>
            </a:r>
            <a:r>
              <a:rPr lang="en-US" sz="3600" dirty="0">
                <a:solidFill>
                  <a:srgbClr val="FFC000"/>
                </a:solidFill>
              </a:rPr>
              <a:t>decision problem</a:t>
            </a:r>
            <a:r>
              <a:rPr lang="en-US" sz="3600" dirty="0"/>
              <a:t>)</a:t>
            </a:r>
          </a:p>
          <a:p>
            <a:pPr marL="377886" lvl="1" indent="0">
              <a:buNone/>
            </a:pPr>
            <a:r>
              <a:rPr lang="en-US" sz="3600" dirty="0"/>
              <a:t>Given a graph  G,  </a:t>
            </a:r>
            <a:r>
              <a:rPr lang="en-US" sz="3600" u="sng" dirty="0"/>
              <a:t>does</a:t>
            </a:r>
            <a:r>
              <a:rPr lang="en-US" sz="3600" dirty="0"/>
              <a:t>  G  have a Hamiltonian cycle?</a:t>
            </a:r>
          </a:p>
        </p:txBody>
      </p:sp>
    </p:spTree>
    <p:extLst>
      <p:ext uri="{BB962C8B-B14F-4D97-AF65-F5344CB8AC3E}">
        <p14:creationId xmlns:p14="http://schemas.microsoft.com/office/powerpoint/2010/main" val="18706502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C000"/>
                </a:solidFill>
              </a:rPr>
              <a:t>Class P  and Class NP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The </a:t>
            </a:r>
            <a:r>
              <a:rPr lang="en-US" sz="3600" b="1" dirty="0">
                <a:solidFill>
                  <a:srgbClr val="FFC000"/>
                </a:solidFill>
              </a:rPr>
              <a:t>class P</a:t>
            </a:r>
            <a:r>
              <a:rPr lang="en-US" sz="3600" dirty="0"/>
              <a:t>  is the set of all decision problems that can be decided (solved) in polynomial time.</a:t>
            </a:r>
          </a:p>
          <a:p>
            <a:r>
              <a:rPr lang="en-US" sz="3600" dirty="0"/>
              <a:t>The </a:t>
            </a:r>
            <a:r>
              <a:rPr lang="en-US" sz="3600" b="1" dirty="0">
                <a:solidFill>
                  <a:srgbClr val="FFC000"/>
                </a:solidFill>
              </a:rPr>
              <a:t>class NP </a:t>
            </a:r>
            <a:r>
              <a:rPr lang="en-US" sz="3600" dirty="0"/>
              <a:t>makes use of a “guess” function (or “nondeterminism”).</a:t>
            </a:r>
          </a:p>
          <a:p>
            <a:endParaRPr lang="en-US" sz="3600" dirty="0"/>
          </a:p>
          <a:p>
            <a:r>
              <a:rPr lang="en-US" sz="3600" dirty="0"/>
              <a:t>NOTE:  NP  does NOT stand for non-polynomial</a:t>
            </a:r>
          </a:p>
        </p:txBody>
      </p:sp>
    </p:spTree>
    <p:extLst>
      <p:ext uri="{BB962C8B-B14F-4D97-AF65-F5344CB8AC3E}">
        <p14:creationId xmlns:p14="http://schemas.microsoft.com/office/powerpoint/2010/main" val="40728975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C000"/>
                </a:solidFill>
              </a:rPr>
              <a:t>Class P  and Class NP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Informally, a decision problem  L  is in the </a:t>
            </a:r>
            <a:r>
              <a:rPr lang="en-US" sz="3600" b="1" dirty="0">
                <a:solidFill>
                  <a:srgbClr val="FFC000"/>
                </a:solidFill>
              </a:rPr>
              <a:t>class NP </a:t>
            </a:r>
            <a:r>
              <a:rPr lang="en-US" sz="3600" dirty="0"/>
              <a:t>(</a:t>
            </a:r>
            <a:r>
              <a:rPr lang="en-US" sz="3600" dirty="0">
                <a:solidFill>
                  <a:srgbClr val="FFC000"/>
                </a:solidFill>
              </a:rPr>
              <a:t>nondeterministic polynomial</a:t>
            </a:r>
            <a:r>
              <a:rPr lang="en-US" sz="3600" dirty="0"/>
              <a:t>) if you can write an algorithm that, for any instance  </a:t>
            </a:r>
            <a:r>
              <a:rPr lang="en-US" sz="3600" b="1" dirty="0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3600" dirty="0"/>
              <a:t>  of the problem,</a:t>
            </a:r>
          </a:p>
          <a:p>
            <a:pPr lvl="1"/>
            <a:r>
              <a:rPr lang="en-US" sz="32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constructs a guess</a:t>
            </a:r>
            <a:r>
              <a:rPr lang="en-US" sz="3200" dirty="0"/>
              <a:t> for the solution in polynomial time</a:t>
            </a:r>
          </a:p>
          <a:p>
            <a:pPr lvl="1"/>
            <a:r>
              <a:rPr lang="en-US" sz="32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checks the guess </a:t>
            </a:r>
            <a:r>
              <a:rPr lang="en-US" sz="3200" dirty="0"/>
              <a:t>(answers yes/no) in polynomial time</a:t>
            </a:r>
          </a:p>
          <a:p>
            <a:pPr marL="377886" lvl="1" indent="0">
              <a:buNone/>
            </a:pPr>
            <a:endParaRPr lang="en-US" sz="3200" dirty="0"/>
          </a:p>
          <a:p>
            <a:r>
              <a:rPr lang="en-US" sz="3600" dirty="0"/>
              <a:t>This is often referred to as </a:t>
            </a:r>
            <a:r>
              <a:rPr lang="en-US" sz="3600" b="1" dirty="0">
                <a:solidFill>
                  <a:srgbClr val="FFC000"/>
                </a:solidFill>
              </a:rPr>
              <a:t>polynomial verifiability</a:t>
            </a:r>
            <a:r>
              <a:rPr lang="en-US" sz="3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36592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C000"/>
                </a:solidFill>
              </a:rPr>
              <a:t>Hamiltonian Cycle Decision Problem is in NP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3600" dirty="0"/>
              <a:t>Instance:  a graph  G  with  n  vertices</a:t>
            </a:r>
          </a:p>
          <a:p>
            <a:r>
              <a:rPr lang="en-US" sz="3600" dirty="0"/>
              <a:t>Write an algorithm that will, in polynomial time,</a:t>
            </a:r>
          </a:p>
          <a:p>
            <a:pPr lvl="1"/>
            <a:r>
              <a:rPr lang="en-US" sz="32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construct a guess: </a:t>
            </a:r>
          </a:p>
          <a:p>
            <a:pPr marL="377886" lvl="1" indent="0">
              <a:buNone/>
            </a:pPr>
            <a:r>
              <a:rPr lang="en-US" sz="2800" dirty="0"/>
              <a:t>	a random ordering of vertices</a:t>
            </a:r>
            <a:endParaRPr lang="en-US" sz="2400" dirty="0"/>
          </a:p>
          <a:p>
            <a:pPr lvl="1"/>
            <a:r>
              <a:rPr lang="en-US" sz="32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checks the guess: </a:t>
            </a:r>
          </a:p>
          <a:p>
            <a:pPr marL="377886" lvl="1" indent="0">
              <a:buNone/>
            </a:pPr>
            <a:r>
              <a:rPr lang="en-US" sz="3200" dirty="0"/>
              <a:t>	check that all  n  vertices are in the random ordering</a:t>
            </a:r>
          </a:p>
          <a:p>
            <a:pPr marL="377886" lvl="1" indent="0">
              <a:buNone/>
            </a:pPr>
            <a:r>
              <a:rPr lang="en-US" sz="3200" dirty="0"/>
              <a:t>	no repeated vertices</a:t>
            </a:r>
          </a:p>
          <a:p>
            <a:pPr marL="377886" lvl="1" indent="0">
              <a:buNone/>
            </a:pPr>
            <a:r>
              <a:rPr lang="en-US" sz="3200" dirty="0"/>
              <a:t>	consecutive vertices in the ordering are adjacent</a:t>
            </a:r>
            <a:endParaRPr lang="en-US" sz="32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337834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8D687A-3386-6E2C-D04F-16B4FCA619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228600"/>
            <a:ext cx="10437972" cy="6477000"/>
          </a:xfrm>
        </p:spPr>
        <p:txBody>
          <a:bodyPr>
            <a:normAutofit/>
          </a:bodyPr>
          <a:lstStyle/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HCVerify</a:t>
            </a:r>
            <a:r>
              <a:rPr lang="en-US" sz="20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(A) </a:t>
            </a:r>
            <a:r>
              <a:rPr lang="en-US" sz="20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{ 			// A  is an n x n adjacency matrix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20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for </a:t>
            </a:r>
            <a:r>
              <a:rPr lang="en-US" sz="2000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US" sz="20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= 1 to n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visited[</a:t>
            </a:r>
            <a:r>
              <a:rPr lang="en-US" sz="2000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US" sz="20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] = false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for </a:t>
            </a:r>
            <a:r>
              <a:rPr lang="en-US" sz="2000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US" sz="20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= 1 to n {		// create a random guess S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S[</a:t>
            </a:r>
            <a:r>
              <a:rPr lang="en-US" sz="2000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US" sz="20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] = guess(V)		// pick a random vertex (1..n)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visited[S[</a:t>
            </a:r>
            <a:r>
              <a:rPr lang="en-US" sz="2000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US" sz="20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]] = true</a:t>
            </a:r>
            <a:r>
              <a:rPr lang="en-US" sz="20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	</a:t>
            </a:r>
            <a:r>
              <a:rPr lang="en-US" sz="20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// mark that vertex as visited</a:t>
            </a:r>
            <a:r>
              <a:rPr lang="en-US" sz="20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	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}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for </a:t>
            </a:r>
            <a:r>
              <a:rPr lang="en-US" sz="2000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US" sz="20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= 1 to n {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if (!visited[</a:t>
            </a:r>
            <a:r>
              <a:rPr lang="en-US" sz="2000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US" sz="20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]) 		// not all vertices are visited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return false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20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for </a:t>
            </a:r>
            <a:r>
              <a:rPr lang="en-US" sz="2000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US" sz="20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= 1 to n-1  {	 	// check that consecutive vertices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if (A[S[</a:t>
            </a:r>
            <a:r>
              <a:rPr lang="en-US" sz="2000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US" sz="20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]][S[i+1]] != 1)	// are adjacent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return false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}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if A[S[n]][S[1]] != 1		// last vertex adjacent to first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return false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</a:t>
            </a:r>
            <a:r>
              <a:rPr lang="en-US" sz="20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return true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58AF9E7-B2CC-5201-6AAC-FE07C3D3C7B8}"/>
              </a:ext>
            </a:extLst>
          </p:cNvPr>
          <p:cNvSpPr txBox="1"/>
          <p:nvPr/>
        </p:nvSpPr>
        <p:spPr>
          <a:xfrm>
            <a:off x="5408612" y="5675293"/>
            <a:ext cx="6301790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FFC000"/>
                </a:solidFill>
              </a:rPr>
              <a:t>Running time:  </a:t>
            </a:r>
            <a:r>
              <a:rPr lang="en-US" sz="2800" dirty="0">
                <a:solidFill>
                  <a:srgbClr val="FFC000"/>
                </a:solidFill>
                <a:sym typeface="Symbol" panose="05050102010706020507" pitchFamily="18" charset="2"/>
              </a:rPr>
              <a:t>(n)  =&gt; polynomial</a:t>
            </a:r>
          </a:p>
          <a:p>
            <a:r>
              <a:rPr lang="en-US" sz="2800" dirty="0" err="1">
                <a:solidFill>
                  <a:srgbClr val="FFC000"/>
                </a:solidFill>
                <a:sym typeface="Symbol" panose="05050102010706020507" pitchFamily="18" charset="2"/>
              </a:rPr>
              <a:t>HCVerify</a:t>
            </a:r>
            <a:r>
              <a:rPr lang="en-US" sz="2800" dirty="0">
                <a:solidFill>
                  <a:srgbClr val="FFC000"/>
                </a:solidFill>
                <a:sym typeface="Symbol" panose="05050102010706020507" pitchFamily="18" charset="2"/>
              </a:rPr>
              <a:t> shows Hamiltonian Cycle is in NP</a:t>
            </a:r>
            <a:endParaRPr lang="en-US" sz="2800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72009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C000"/>
                </a:solidFill>
              </a:rPr>
              <a:t>Optimization Problems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>
          <a:xfrm>
            <a:off x="1218883" y="1701797"/>
            <a:ext cx="10742929" cy="4462272"/>
          </a:xfrm>
        </p:spPr>
        <p:txBody>
          <a:bodyPr>
            <a:normAutofit lnSpcReduction="10000"/>
          </a:bodyPr>
          <a:lstStyle/>
          <a:p>
            <a:r>
              <a:rPr lang="en-US" sz="3600" dirty="0"/>
              <a:t>Many problems involve solving an “optimization” problem</a:t>
            </a:r>
          </a:p>
          <a:p>
            <a:pPr lvl="1"/>
            <a:r>
              <a:rPr lang="en-US" sz="3200" dirty="0">
                <a:solidFill>
                  <a:srgbClr val="FFC000"/>
                </a:solidFill>
              </a:rPr>
              <a:t>Traveling Salesperson Problem</a:t>
            </a:r>
            <a:r>
              <a:rPr lang="en-US" sz="3200" dirty="0"/>
              <a:t>: find the tour of </a:t>
            </a:r>
            <a:r>
              <a:rPr lang="en-US" sz="3200" dirty="0">
                <a:solidFill>
                  <a:srgbClr val="FFC000"/>
                </a:solidFill>
              </a:rPr>
              <a:t>minimum</a:t>
            </a:r>
            <a:r>
              <a:rPr lang="en-US" sz="3200" dirty="0"/>
              <a:t> total cost</a:t>
            </a:r>
          </a:p>
          <a:p>
            <a:pPr lvl="1"/>
            <a:r>
              <a:rPr lang="en-US" sz="3200" dirty="0">
                <a:solidFill>
                  <a:srgbClr val="FFC000"/>
                </a:solidFill>
              </a:rPr>
              <a:t>Shortest Path Problem</a:t>
            </a:r>
            <a:r>
              <a:rPr lang="en-US" sz="3200" dirty="0"/>
              <a:t>: find a path of </a:t>
            </a:r>
            <a:r>
              <a:rPr lang="en-US" sz="3200" dirty="0">
                <a:solidFill>
                  <a:srgbClr val="FFC000"/>
                </a:solidFill>
              </a:rPr>
              <a:t>minimum</a:t>
            </a:r>
            <a:r>
              <a:rPr lang="en-US" sz="3200" dirty="0"/>
              <a:t> total weight</a:t>
            </a:r>
          </a:p>
          <a:p>
            <a:pPr lvl="1"/>
            <a:r>
              <a:rPr lang="en-US" sz="3200" dirty="0">
                <a:solidFill>
                  <a:srgbClr val="FFC000"/>
                </a:solidFill>
              </a:rPr>
              <a:t>Knapsack Problem</a:t>
            </a:r>
            <a:r>
              <a:rPr lang="en-US" sz="3200" dirty="0"/>
              <a:t>: find the set of items of </a:t>
            </a:r>
            <a:r>
              <a:rPr lang="en-US" sz="3200" dirty="0">
                <a:solidFill>
                  <a:srgbClr val="FFC000"/>
                </a:solidFill>
              </a:rPr>
              <a:t>maximum</a:t>
            </a:r>
            <a:r>
              <a:rPr lang="en-US" sz="3200" dirty="0"/>
              <a:t> total size that fits in the knapsack</a:t>
            </a:r>
          </a:p>
          <a:p>
            <a:pPr lvl="1"/>
            <a:r>
              <a:rPr lang="en-US" sz="3200" dirty="0">
                <a:solidFill>
                  <a:srgbClr val="FFC000"/>
                </a:solidFill>
              </a:rPr>
              <a:t>Coin Change Problem</a:t>
            </a:r>
            <a:r>
              <a:rPr lang="en-US" sz="3200" dirty="0"/>
              <a:t>: make  A  cents using the </a:t>
            </a:r>
            <a:r>
              <a:rPr lang="en-US" sz="3200" dirty="0">
                <a:solidFill>
                  <a:srgbClr val="FFC000"/>
                </a:solidFill>
              </a:rPr>
              <a:t>fewest</a:t>
            </a:r>
            <a:r>
              <a:rPr lang="en-US" sz="3200" dirty="0"/>
              <a:t> number of coins</a:t>
            </a:r>
          </a:p>
        </p:txBody>
      </p:sp>
    </p:spTree>
    <p:extLst>
      <p:ext uri="{BB962C8B-B14F-4D97-AF65-F5344CB8AC3E}">
        <p14:creationId xmlns:p14="http://schemas.microsoft.com/office/powerpoint/2010/main" val="29660469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C000"/>
                </a:solidFill>
              </a:rPr>
              <a:t>Optimization Problems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>
          <a:xfrm>
            <a:off x="1218883" y="1701797"/>
            <a:ext cx="10742929" cy="4462272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rgbClr val="FFC000"/>
                </a:solidFill>
              </a:rPr>
              <a:t>Question</a:t>
            </a:r>
            <a:r>
              <a:rPr lang="en-US" sz="3600" dirty="0"/>
              <a:t>: If the theory of NP-completeness is based on decision problems (answer yes/no), how do we apply this theory to optimization problems?</a:t>
            </a:r>
          </a:p>
          <a:p>
            <a:r>
              <a:rPr lang="en-US" sz="3600" dirty="0">
                <a:solidFill>
                  <a:srgbClr val="FFC000"/>
                </a:solidFill>
              </a:rPr>
              <a:t>Answer</a:t>
            </a:r>
            <a:r>
              <a:rPr lang="en-US" sz="3600" dirty="0"/>
              <a:t>: Introduce a bound</a:t>
            </a:r>
          </a:p>
        </p:txBody>
      </p:sp>
    </p:spTree>
    <p:extLst>
      <p:ext uri="{BB962C8B-B14F-4D97-AF65-F5344CB8AC3E}">
        <p14:creationId xmlns:p14="http://schemas.microsoft.com/office/powerpoint/2010/main" val="31671828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C000"/>
                </a:solidFill>
              </a:rPr>
              <a:t>Optimization Problems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>
          <a:xfrm>
            <a:off x="1218883" y="1701797"/>
            <a:ext cx="10742929" cy="4462272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rgbClr val="FFC000"/>
                </a:solidFill>
              </a:rPr>
              <a:t>Traveling Salesperson (optimization)</a:t>
            </a:r>
            <a:r>
              <a:rPr lang="en-US" sz="3600" dirty="0"/>
              <a:t>: Given a weighted graph G, determine a tour (Hamiltonian cycle) of minimum total weight</a:t>
            </a:r>
          </a:p>
          <a:p>
            <a:r>
              <a:rPr lang="en-US" sz="3600" dirty="0">
                <a:solidFill>
                  <a:srgbClr val="FFC000"/>
                </a:solidFill>
              </a:rPr>
              <a:t>Traveling Salesperson (decision)</a:t>
            </a:r>
            <a:r>
              <a:rPr lang="en-US" sz="3600" dirty="0"/>
              <a:t>: Given a weighted graph G   </a:t>
            </a:r>
            <a:r>
              <a:rPr lang="en-US" sz="3600" dirty="0">
                <a:solidFill>
                  <a:srgbClr val="FFC000"/>
                </a:solidFill>
              </a:rPr>
              <a:t>and an upper bound  B,</a:t>
            </a:r>
            <a:r>
              <a:rPr lang="en-US" sz="3600" dirty="0"/>
              <a:t> does  G  have a tour (Hamiltonian cycle) of total weight at most  B?  </a:t>
            </a:r>
          </a:p>
          <a:p>
            <a:r>
              <a:rPr lang="en-US" sz="3200" dirty="0"/>
              <a:t>Pause:  Show that the Traveling Salesperson Decision problem is in the class NP</a:t>
            </a:r>
          </a:p>
        </p:txBody>
      </p:sp>
    </p:spTree>
    <p:extLst>
      <p:ext uri="{BB962C8B-B14F-4D97-AF65-F5344CB8AC3E}">
        <p14:creationId xmlns:p14="http://schemas.microsoft.com/office/powerpoint/2010/main" val="7113890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8D687A-3386-6E2C-D04F-16B4FCA619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228600"/>
            <a:ext cx="10437972" cy="6477000"/>
          </a:xfrm>
        </p:spPr>
        <p:txBody>
          <a:bodyPr>
            <a:normAutofit/>
          </a:bodyPr>
          <a:lstStyle/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TSPVerify</a:t>
            </a:r>
            <a:r>
              <a:rPr lang="en-US" sz="20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(w, B) </a:t>
            </a:r>
            <a:r>
              <a:rPr lang="en-US" sz="20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{ 		// </a:t>
            </a:r>
            <a:r>
              <a:rPr lang="en-US" sz="2000" dirty="0"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weight </a:t>
            </a:r>
            <a:r>
              <a:rPr lang="en-US" sz="20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matrix  w, upper bound B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20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for </a:t>
            </a:r>
            <a:r>
              <a:rPr lang="en-US" sz="2000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US" sz="20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= 1 to n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visited[</a:t>
            </a:r>
            <a:r>
              <a:rPr lang="en-US" sz="2000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US" sz="20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] = false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for </a:t>
            </a:r>
            <a:r>
              <a:rPr lang="en-US" sz="2000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US" sz="20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= 1 to n {		// create a random guess S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S[</a:t>
            </a:r>
            <a:r>
              <a:rPr lang="en-US" sz="2000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US" sz="20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] = guess(V)		// pick a random vertex (1..n)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visited[S[</a:t>
            </a:r>
            <a:r>
              <a:rPr lang="en-US" sz="2000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US" sz="20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]] = true</a:t>
            </a:r>
            <a:r>
              <a:rPr lang="en-US" sz="20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	</a:t>
            </a:r>
            <a:r>
              <a:rPr lang="en-US" sz="20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// mark that vertex as visited</a:t>
            </a:r>
            <a:r>
              <a:rPr lang="en-US" sz="20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	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}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for </a:t>
            </a:r>
            <a:r>
              <a:rPr lang="en-US" sz="2000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US" sz="20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= 1 to n {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if (!visited[</a:t>
            </a:r>
            <a:r>
              <a:rPr lang="en-US" sz="2000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US" sz="20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]) 		// not all vertices are visited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return false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20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</a:t>
            </a:r>
            <a:endParaRPr lang="en-US" sz="2000" dirty="0">
              <a:effectLst/>
              <a:latin typeface="Courier New" panose="020703090202050204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34056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C000"/>
                </a:solidFill>
              </a:rPr>
              <a:t>Class P  and Class NP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3600" dirty="0"/>
              <a:t>The </a:t>
            </a:r>
            <a:r>
              <a:rPr lang="en-US" sz="3600" b="1" dirty="0">
                <a:solidFill>
                  <a:srgbClr val="FFC000"/>
                </a:solidFill>
              </a:rPr>
              <a:t>class P</a:t>
            </a:r>
            <a:r>
              <a:rPr lang="en-US" sz="3600" dirty="0"/>
              <a:t>  is the set of all decision problems that can be decided (solved) in polynomial time.</a:t>
            </a:r>
          </a:p>
          <a:p>
            <a:r>
              <a:rPr lang="en-US" sz="3600" dirty="0"/>
              <a:t>The </a:t>
            </a:r>
            <a:r>
              <a:rPr lang="en-US" sz="3600" b="1" dirty="0">
                <a:solidFill>
                  <a:srgbClr val="FFC000"/>
                </a:solidFill>
              </a:rPr>
              <a:t>class NP </a:t>
            </a:r>
            <a:r>
              <a:rPr lang="en-US" sz="3600" dirty="0"/>
              <a:t>is the set of all decision problems that can be verified in polynomial time.</a:t>
            </a:r>
          </a:p>
          <a:p>
            <a:r>
              <a:rPr lang="en-US" sz="3600" dirty="0"/>
              <a:t>Important:  P </a:t>
            </a:r>
            <a:r>
              <a:rPr lang="en-US" sz="3600" dirty="0">
                <a:sym typeface="Symbol" panose="05050102010706020507" pitchFamily="18" charset="2"/>
              </a:rPr>
              <a:t> NP</a:t>
            </a:r>
          </a:p>
          <a:p>
            <a:pPr lvl="1"/>
            <a:r>
              <a:rPr lang="en-US" sz="3200" dirty="0">
                <a:sym typeface="Symbol" panose="05050102010706020507" pitchFamily="18" charset="2"/>
              </a:rPr>
              <a:t>If a decision problem can be solved in polynomial time, then it can be “verified” in polynomial time.</a:t>
            </a:r>
          </a:p>
          <a:p>
            <a:r>
              <a:rPr lang="en-US" sz="3600" dirty="0"/>
              <a:t>Unsolved Problem:  Is P </a:t>
            </a:r>
            <a:r>
              <a:rPr lang="en-US" sz="3600" dirty="0">
                <a:sym typeface="Symbol" panose="05050102010706020507" pitchFamily="18" charset="2"/>
              </a:rPr>
              <a:t>= NP?</a:t>
            </a:r>
          </a:p>
          <a:p>
            <a:pPr lvl="1"/>
            <a:endParaRPr lang="en-US" sz="3200" dirty="0">
              <a:sym typeface="Symbol" panose="05050102010706020507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4152252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C000"/>
                </a:solidFill>
              </a:rPr>
              <a:t>Class P  and Class NP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3600" dirty="0"/>
              <a:t>Unsolved Problem:  Is P </a:t>
            </a:r>
            <a:r>
              <a:rPr lang="en-US" sz="3600" dirty="0">
                <a:sym typeface="Symbol" panose="05050102010706020507" pitchFamily="18" charset="2"/>
              </a:rPr>
              <a:t>= NP?</a:t>
            </a:r>
          </a:p>
          <a:p>
            <a:pPr lvl="1"/>
            <a:r>
              <a:rPr lang="en-US" sz="3200" dirty="0">
                <a:sym typeface="Symbol" panose="05050102010706020507" pitchFamily="18" charset="2"/>
              </a:rPr>
              <a:t>Considered by many to be THE most important open problem in the field of computer science (posed in 1971)</a:t>
            </a:r>
          </a:p>
          <a:p>
            <a:pPr lvl="1"/>
            <a:r>
              <a:rPr lang="en-US" sz="3200" dirty="0">
                <a:sym typeface="Symbol" panose="05050102010706020507" pitchFamily="18" charset="2"/>
              </a:rPr>
              <a:t>Commonly held assumption:  P  NP  (but no one has been able to prove it)</a:t>
            </a:r>
          </a:p>
          <a:p>
            <a:pPr lvl="1"/>
            <a:r>
              <a:rPr lang="en-US" sz="3200" dirty="0">
                <a:sym typeface="Symbol" panose="05050102010706020507" pitchFamily="18" charset="2"/>
              </a:rPr>
              <a:t>One of seven Millennium Prize Problems selected by Clay Mathematics Institute (in 2000)</a:t>
            </a:r>
          </a:p>
          <a:p>
            <a:pPr lvl="1"/>
            <a:r>
              <a:rPr lang="en-US" sz="3200" dirty="0">
                <a:sym typeface="Symbol" panose="05050102010706020507" pitchFamily="18" charset="2"/>
              </a:rPr>
              <a:t>$1,000,000 prize for the first correct solution (try it for homework </a:t>
            </a:r>
            <a:r>
              <a:rPr lang="en-US" sz="3200" dirty="0">
                <a:sym typeface="Wingdings" panose="05000000000000000000" pitchFamily="2" charset="2"/>
              </a:rPr>
              <a:t></a:t>
            </a:r>
            <a:r>
              <a:rPr lang="en-US" sz="3200" dirty="0">
                <a:sym typeface="Symbol" panose="05050102010706020507" pitchFamily="18" charset="2"/>
              </a:rPr>
              <a:t>)</a:t>
            </a:r>
          </a:p>
          <a:p>
            <a:endParaRPr lang="en-US" sz="3600" dirty="0">
              <a:sym typeface="Symbol" panose="05050102010706020507" pitchFamily="18" charset="2"/>
            </a:endParaRPr>
          </a:p>
          <a:p>
            <a:pPr lvl="1"/>
            <a:endParaRPr lang="en-US" sz="3200" dirty="0">
              <a:sym typeface="Symbol" panose="05050102010706020507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5230852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C000"/>
                </a:solidFill>
              </a:rPr>
              <a:t>Class NP-hard and Class NP-complete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>
          <a:xfrm>
            <a:off x="1218883" y="1701797"/>
            <a:ext cx="10590529" cy="4462272"/>
          </a:xfrm>
        </p:spPr>
        <p:txBody>
          <a:bodyPr>
            <a:normAutofit/>
          </a:bodyPr>
          <a:lstStyle/>
          <a:p>
            <a:r>
              <a:rPr lang="en-US" sz="3600" dirty="0"/>
              <a:t>What does it mean for a problem to be  NP-complete?</a:t>
            </a:r>
          </a:p>
          <a:p>
            <a:r>
              <a:rPr lang="en-US" sz="3600" dirty="0">
                <a:sym typeface="Symbol" panose="05050102010706020507" pitchFamily="18" charset="2"/>
              </a:rPr>
              <a:t>Informally, a decision problem is  NP-complete if</a:t>
            </a:r>
          </a:p>
          <a:p>
            <a:pPr lvl="1"/>
            <a:r>
              <a:rPr lang="en-US" sz="3200" dirty="0">
                <a:sym typeface="Symbol" panose="05050102010706020507" pitchFamily="18" charset="2"/>
              </a:rPr>
              <a:t>it is in the class NP and</a:t>
            </a:r>
          </a:p>
          <a:p>
            <a:pPr lvl="1"/>
            <a:r>
              <a:rPr lang="en-US" sz="3200" dirty="0">
                <a:sym typeface="Symbol" panose="05050102010706020507" pitchFamily="18" charset="2"/>
              </a:rPr>
              <a:t>it is </a:t>
            </a:r>
            <a:r>
              <a:rPr lang="en-US" sz="3200" dirty="0">
                <a:solidFill>
                  <a:srgbClr val="FFC000"/>
                </a:solidFill>
                <a:sym typeface="Symbol" panose="05050102010706020507" pitchFamily="18" charset="2"/>
              </a:rPr>
              <a:t>“just as hard”</a:t>
            </a:r>
            <a:r>
              <a:rPr lang="en-US" sz="3200" dirty="0">
                <a:sym typeface="Symbol" panose="05050102010706020507" pitchFamily="18" charset="2"/>
              </a:rPr>
              <a:t> as EVERY other problem in the class NP</a:t>
            </a:r>
          </a:p>
          <a:p>
            <a:pPr lvl="1"/>
            <a:endParaRPr lang="en-US" sz="3200" dirty="0">
              <a:sym typeface="Symbol" panose="05050102010706020507" pitchFamily="18" charset="2"/>
            </a:endParaRPr>
          </a:p>
          <a:p>
            <a:pPr marL="377886" lvl="1" indent="0">
              <a:buNone/>
            </a:pPr>
            <a:r>
              <a:rPr lang="en-US" sz="3200" dirty="0">
                <a:solidFill>
                  <a:srgbClr val="FFC000"/>
                </a:solidFill>
                <a:sym typeface="Symbol" panose="05050102010706020507" pitchFamily="18" charset="2"/>
              </a:rPr>
              <a:t>Question</a:t>
            </a:r>
            <a:r>
              <a:rPr lang="en-US" sz="3200" dirty="0">
                <a:sym typeface="Symbol" panose="05050102010706020507" pitchFamily="18" charset="2"/>
              </a:rPr>
              <a:t>: How do we show one problem is </a:t>
            </a:r>
            <a:r>
              <a:rPr lang="en-US" sz="3200" dirty="0">
                <a:solidFill>
                  <a:srgbClr val="FFC000"/>
                </a:solidFill>
                <a:sym typeface="Symbol" panose="05050102010706020507" pitchFamily="18" charset="2"/>
              </a:rPr>
              <a:t>“just as hard”</a:t>
            </a:r>
            <a:r>
              <a:rPr lang="en-US" sz="3200" dirty="0">
                <a:sym typeface="Symbol" panose="05050102010706020507" pitchFamily="18" charset="2"/>
              </a:rPr>
              <a:t> as another problem?</a:t>
            </a:r>
          </a:p>
        </p:txBody>
      </p:sp>
    </p:spTree>
    <p:extLst>
      <p:ext uri="{BB962C8B-B14F-4D97-AF65-F5344CB8AC3E}">
        <p14:creationId xmlns:p14="http://schemas.microsoft.com/office/powerpoint/2010/main" val="15326631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C000"/>
                </a:solidFill>
              </a:rPr>
              <a:t>Polynomial-time reductions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>
          <a:xfrm>
            <a:off x="1218883" y="1701797"/>
            <a:ext cx="10590529" cy="4462272"/>
          </a:xfrm>
        </p:spPr>
        <p:txBody>
          <a:bodyPr>
            <a:normAutofit/>
          </a:bodyPr>
          <a:lstStyle/>
          <a:p>
            <a:r>
              <a:rPr lang="en-US" sz="3600" dirty="0"/>
              <a:t>A </a:t>
            </a:r>
            <a:r>
              <a:rPr lang="en-US" sz="3600" dirty="0">
                <a:solidFill>
                  <a:srgbClr val="FFC000"/>
                </a:solidFill>
              </a:rPr>
              <a:t>polynomial-time reduction </a:t>
            </a:r>
            <a:r>
              <a:rPr lang="en-US" sz="3600" dirty="0"/>
              <a:t>is used to show that one decision problem is “just as hard” as another.</a:t>
            </a:r>
          </a:p>
          <a:p>
            <a:r>
              <a:rPr lang="en-US" sz="3600" dirty="0">
                <a:sym typeface="Symbol" panose="05050102010706020507" pitchFamily="18" charset="2"/>
              </a:rPr>
              <a:t>The process involves taking any arbitrary, general instance of a problem and transforming it to some instance of another problem</a:t>
            </a:r>
          </a:p>
        </p:txBody>
      </p:sp>
    </p:spTree>
    <p:extLst>
      <p:ext uri="{BB962C8B-B14F-4D97-AF65-F5344CB8AC3E}">
        <p14:creationId xmlns:p14="http://schemas.microsoft.com/office/powerpoint/2010/main" val="18469189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D7DDE2B3-6737-C013-61FF-E113AF2F3A1D}"/>
              </a:ext>
            </a:extLst>
          </p:cNvPr>
          <p:cNvSpPr/>
          <p:nvPr/>
        </p:nvSpPr>
        <p:spPr>
          <a:xfrm>
            <a:off x="7694612" y="1701796"/>
            <a:ext cx="4037329" cy="1117603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6A2D719-5DA5-5667-15D3-6CB11CB39849}"/>
              </a:ext>
            </a:extLst>
          </p:cNvPr>
          <p:cNvSpPr/>
          <p:nvPr/>
        </p:nvSpPr>
        <p:spPr>
          <a:xfrm>
            <a:off x="1218883" y="1701797"/>
            <a:ext cx="4037329" cy="111760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/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C000"/>
                </a:solidFill>
              </a:rPr>
              <a:t>Polynomial-time reductions</a:t>
            </a:r>
            <a:br>
              <a:rPr lang="en-US" b="1" dirty="0">
                <a:solidFill>
                  <a:srgbClr val="FFC000"/>
                </a:solidFill>
              </a:rPr>
            </a:br>
            <a:endParaRPr lang="en-US" b="1" baseline="-25000" dirty="0">
              <a:solidFill>
                <a:srgbClr val="FFC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C045D6-7A9F-2D84-1435-30475B84C5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8883" y="1701797"/>
            <a:ext cx="10742929" cy="4881566"/>
          </a:xfrm>
        </p:spPr>
        <p:txBody>
          <a:bodyPr>
            <a:normAutofit/>
          </a:bodyPr>
          <a:lstStyle/>
          <a:p>
            <a:pPr marL="0" indent="0">
              <a:buNone/>
              <a:tabLst>
                <a:tab pos="4516438" algn="l"/>
                <a:tab pos="6516688" algn="l"/>
              </a:tabLst>
            </a:pPr>
            <a:r>
              <a:rPr lang="en-US" dirty="0"/>
              <a:t>Problem P</a:t>
            </a:r>
            <a:r>
              <a:rPr lang="en-US" baseline="-25000" dirty="0"/>
              <a:t>1</a:t>
            </a:r>
            <a:r>
              <a:rPr lang="en-US" dirty="0"/>
              <a:t>	</a:t>
            </a:r>
            <a:r>
              <a:rPr lang="en-US" dirty="0">
                <a:sym typeface="Wingdings" panose="05000000000000000000" pitchFamily="2" charset="2"/>
              </a:rPr>
              <a:t>	Problem P</a:t>
            </a:r>
            <a:r>
              <a:rPr lang="en-US" baseline="-25000" dirty="0">
                <a:sym typeface="Wingdings" panose="05000000000000000000" pitchFamily="2" charset="2"/>
              </a:rPr>
              <a:t>2</a:t>
            </a:r>
          </a:p>
          <a:p>
            <a:pPr marL="0" indent="0">
              <a:buNone/>
              <a:tabLst>
                <a:tab pos="4516438" algn="l"/>
                <a:tab pos="6516688" algn="l"/>
              </a:tabLst>
            </a:pPr>
            <a:r>
              <a:rPr lang="en-US" dirty="0"/>
              <a:t>any arbitrary instance 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baseline="-25000" dirty="0"/>
              <a:t>1</a:t>
            </a:r>
            <a:r>
              <a:rPr lang="en-US" dirty="0"/>
              <a:t>	</a:t>
            </a:r>
            <a:r>
              <a:rPr lang="en-US" dirty="0">
                <a:sym typeface="Wingdings" panose="05000000000000000000" pitchFamily="2" charset="2"/>
              </a:rPr>
              <a:t> 	some instance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baseline="-25000" dirty="0">
                <a:sym typeface="Wingdings" panose="05000000000000000000" pitchFamily="2" charset="2"/>
              </a:rPr>
              <a:t>2</a:t>
            </a:r>
          </a:p>
          <a:p>
            <a:pPr marL="0" indent="0" algn="ctr">
              <a:buNone/>
              <a:tabLst>
                <a:tab pos="3657600" algn="l"/>
                <a:tab pos="7315200" algn="l"/>
              </a:tabLst>
            </a:pPr>
            <a:r>
              <a:rPr lang="en-US" b="1" dirty="0">
                <a:solidFill>
                  <a:srgbClr val="FFC000"/>
                </a:solidFill>
              </a:rPr>
              <a:t>Problem  P</a:t>
            </a:r>
            <a:r>
              <a:rPr lang="en-US" b="1" baseline="-25000" dirty="0">
                <a:solidFill>
                  <a:srgbClr val="FFC000"/>
                </a:solidFill>
              </a:rPr>
              <a:t>2</a:t>
            </a:r>
            <a:r>
              <a:rPr lang="en-US" b="1" dirty="0">
                <a:solidFill>
                  <a:srgbClr val="FFC000"/>
                </a:solidFill>
              </a:rPr>
              <a:t> is “just as hard” as P</a:t>
            </a:r>
            <a:r>
              <a:rPr lang="en-US" b="1" baseline="-25000" dirty="0">
                <a:solidFill>
                  <a:srgbClr val="FFC000"/>
                </a:solidFill>
              </a:rPr>
              <a:t>1</a:t>
            </a:r>
            <a:endParaRPr lang="en-US" dirty="0"/>
          </a:p>
          <a:p>
            <a:pPr marL="0" indent="0">
              <a:buNone/>
              <a:tabLst>
                <a:tab pos="3657600" algn="l"/>
                <a:tab pos="7315200" algn="l"/>
              </a:tabLst>
            </a:pPr>
            <a:r>
              <a:rPr lang="en-US" dirty="0"/>
              <a:t>Modify an arbitrary, general instance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baseline="-25000" dirty="0"/>
              <a:t>1</a:t>
            </a:r>
            <a:r>
              <a:rPr lang="en-US" dirty="0"/>
              <a:t>  of problem  P</a:t>
            </a:r>
            <a:r>
              <a:rPr lang="en-US" baseline="-25000" dirty="0"/>
              <a:t>1</a:t>
            </a:r>
            <a:r>
              <a:rPr lang="en-US" dirty="0"/>
              <a:t>  by:</a:t>
            </a:r>
          </a:p>
          <a:p>
            <a:pPr>
              <a:tabLst>
                <a:tab pos="3657600" algn="l"/>
                <a:tab pos="7315200" algn="l"/>
              </a:tabLst>
            </a:pPr>
            <a:r>
              <a:rPr lang="en-US" dirty="0"/>
              <a:t>Adding/deleting/transforming items (e.g., vertices, edges, sizes) of 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baseline="-25000" dirty="0"/>
              <a:t>1</a:t>
            </a:r>
            <a:endParaRPr lang="en-US" dirty="0"/>
          </a:p>
          <a:p>
            <a:pPr>
              <a:tabLst>
                <a:tab pos="3657600" algn="l"/>
                <a:tab pos="7315200" algn="l"/>
              </a:tabLst>
            </a:pPr>
            <a:r>
              <a:rPr lang="en-US" dirty="0"/>
              <a:t>producing some instance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baseline="-25000" dirty="0">
                <a:sym typeface="Wingdings" panose="05000000000000000000" pitchFamily="2" charset="2"/>
              </a:rPr>
              <a:t>2</a:t>
            </a:r>
            <a:r>
              <a:rPr lang="en-US" dirty="0"/>
              <a:t>  of  problem </a:t>
            </a:r>
            <a:r>
              <a:rPr lang="en-US" dirty="0">
                <a:sym typeface="Wingdings" panose="05000000000000000000" pitchFamily="2" charset="2"/>
              </a:rPr>
              <a:t>P</a:t>
            </a:r>
            <a:r>
              <a:rPr lang="en-US" baseline="-25000" dirty="0">
                <a:sym typeface="Wingdings" panose="05000000000000000000" pitchFamily="2" charset="2"/>
              </a:rPr>
              <a:t>2</a:t>
            </a:r>
            <a:r>
              <a:rPr lang="en-US" dirty="0"/>
              <a:t>  such that</a:t>
            </a:r>
          </a:p>
          <a:p>
            <a:pPr>
              <a:tabLst>
                <a:tab pos="3657600" algn="l"/>
                <a:tab pos="7315200" algn="l"/>
              </a:tabLst>
            </a:pPr>
            <a:r>
              <a:rPr lang="en-US" dirty="0"/>
              <a:t>the transformation is done in polynomial time and</a:t>
            </a:r>
          </a:p>
          <a:p>
            <a:pPr>
              <a:tabLst>
                <a:tab pos="3657600" algn="l"/>
                <a:tab pos="7315200" algn="l"/>
              </a:tabLst>
            </a:pPr>
            <a:r>
              <a:rPr lang="en-US" dirty="0"/>
              <a:t>the answer for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baseline="-25000" dirty="0"/>
              <a:t>1 </a:t>
            </a:r>
            <a:r>
              <a:rPr lang="en-US" dirty="0"/>
              <a:t> is “yes” if and only if the answer for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baseline="-25000" dirty="0">
                <a:sym typeface="Wingdings" panose="05000000000000000000" pitchFamily="2" charset="2"/>
              </a:rPr>
              <a:t>2</a:t>
            </a:r>
            <a:r>
              <a:rPr lang="en-US" dirty="0"/>
              <a:t>  is “yes”.</a:t>
            </a:r>
          </a:p>
        </p:txBody>
      </p:sp>
    </p:spTree>
    <p:extLst>
      <p:ext uri="{BB962C8B-B14F-4D97-AF65-F5344CB8AC3E}">
        <p14:creationId xmlns:p14="http://schemas.microsoft.com/office/powerpoint/2010/main" val="26152132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D7DDE2B3-6737-C013-61FF-E113AF2F3A1D}"/>
              </a:ext>
            </a:extLst>
          </p:cNvPr>
          <p:cNvSpPr/>
          <p:nvPr/>
        </p:nvSpPr>
        <p:spPr>
          <a:xfrm>
            <a:off x="6704012" y="1701796"/>
            <a:ext cx="5027929" cy="1498604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6A2D719-5DA5-5667-15D3-6CB11CB39849}"/>
              </a:ext>
            </a:extLst>
          </p:cNvPr>
          <p:cNvSpPr/>
          <p:nvPr/>
        </p:nvSpPr>
        <p:spPr>
          <a:xfrm>
            <a:off x="1218883" y="1701797"/>
            <a:ext cx="4037329" cy="111760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/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C000"/>
                </a:solidFill>
              </a:rPr>
              <a:t>Polynomial-time reduction from HC to TSP</a:t>
            </a:r>
            <a:br>
              <a:rPr lang="en-US" b="1" dirty="0">
                <a:solidFill>
                  <a:srgbClr val="FFC000"/>
                </a:solidFill>
              </a:rPr>
            </a:br>
            <a:endParaRPr lang="en-US" b="1" dirty="0">
              <a:solidFill>
                <a:srgbClr val="FFC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C045D6-7A9F-2D84-1435-30475B84C5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8883" y="1701797"/>
            <a:ext cx="10969942" cy="4881566"/>
          </a:xfrm>
        </p:spPr>
        <p:txBody>
          <a:bodyPr>
            <a:normAutofit/>
          </a:bodyPr>
          <a:lstStyle/>
          <a:p>
            <a:pPr marL="0" indent="0">
              <a:buNone/>
              <a:tabLst>
                <a:tab pos="4516438" algn="l"/>
                <a:tab pos="5486400" algn="l"/>
              </a:tabLst>
            </a:pPr>
            <a:r>
              <a:rPr lang="en-US" dirty="0"/>
              <a:t>Hamiltonian Cycle (HC)	</a:t>
            </a:r>
            <a:r>
              <a:rPr lang="en-US" dirty="0">
                <a:sym typeface="Wingdings" panose="05000000000000000000" pitchFamily="2" charset="2"/>
              </a:rPr>
              <a:t>	Traveling Salesperson (TSP)</a:t>
            </a:r>
            <a:endParaRPr lang="en-US" baseline="-25000" dirty="0">
              <a:sym typeface="Wingdings" panose="05000000000000000000" pitchFamily="2" charset="2"/>
            </a:endParaRPr>
          </a:p>
          <a:p>
            <a:pPr marL="0" indent="0">
              <a:buNone/>
              <a:tabLst>
                <a:tab pos="4516438" algn="l"/>
                <a:tab pos="5486400" algn="l"/>
              </a:tabLst>
            </a:pPr>
            <a:r>
              <a:rPr lang="en-US" dirty="0"/>
              <a:t>Instance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baseline="-25000" dirty="0"/>
              <a:t>1 </a:t>
            </a:r>
            <a:r>
              <a:rPr lang="en-US" dirty="0"/>
              <a:t>:  a graph  G	</a:t>
            </a:r>
            <a:r>
              <a:rPr lang="en-US" dirty="0">
                <a:sym typeface="Wingdings" panose="05000000000000000000" pitchFamily="2" charset="2"/>
              </a:rPr>
              <a:t> 	Instance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baseline="-25000" dirty="0"/>
              <a:t>2</a:t>
            </a:r>
            <a:r>
              <a:rPr lang="en-US" dirty="0">
                <a:sym typeface="Wingdings" panose="05000000000000000000" pitchFamily="2" charset="2"/>
              </a:rPr>
              <a:t>:  a weighted graph G, </a:t>
            </a:r>
          </a:p>
          <a:p>
            <a:pPr marL="0" indent="0">
              <a:spcBef>
                <a:spcPts val="0"/>
              </a:spcBef>
              <a:buNone/>
              <a:tabLst>
                <a:tab pos="4516438" algn="l"/>
                <a:tab pos="5486400" algn="l"/>
                <a:tab pos="7315200" algn="l"/>
              </a:tabLst>
            </a:pPr>
            <a:r>
              <a:rPr lang="en-US" dirty="0">
                <a:sym typeface="Wingdings" panose="05000000000000000000" pitchFamily="2" charset="2"/>
              </a:rPr>
              <a:t>			a bound  B</a:t>
            </a:r>
            <a:endParaRPr lang="en-US" baseline="-25000" dirty="0">
              <a:sym typeface="Wingdings" panose="05000000000000000000" pitchFamily="2" charset="2"/>
            </a:endParaRPr>
          </a:p>
          <a:p>
            <a:pPr marL="0" indent="0" algn="ctr">
              <a:buNone/>
              <a:tabLst>
                <a:tab pos="3657600" algn="l"/>
                <a:tab pos="7315200" algn="l"/>
              </a:tabLst>
            </a:pPr>
            <a:r>
              <a:rPr lang="en-US" b="1" dirty="0">
                <a:solidFill>
                  <a:srgbClr val="FFC000"/>
                </a:solidFill>
              </a:rPr>
              <a:t>Hamiltonian Cycle to Traveling Salesperson</a:t>
            </a:r>
            <a:endParaRPr lang="en-US" dirty="0"/>
          </a:p>
          <a:p>
            <a:pPr marL="0" indent="0">
              <a:buNone/>
              <a:tabLst>
                <a:tab pos="3657600" algn="l"/>
                <a:tab pos="7315200" algn="l"/>
              </a:tabLst>
            </a:pPr>
            <a:r>
              <a:rPr lang="en-US" dirty="0"/>
              <a:t>Modify an arbitrary, general instance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baseline="-25000" dirty="0"/>
              <a:t>1</a:t>
            </a:r>
            <a:r>
              <a:rPr lang="en-US" dirty="0"/>
              <a:t>  of Hamiltonian Cycle  by:</a:t>
            </a:r>
          </a:p>
          <a:p>
            <a:pPr>
              <a:tabLst>
                <a:tab pos="3657600" algn="l"/>
                <a:tab pos="7315200" algn="l"/>
              </a:tabLst>
            </a:pPr>
            <a:r>
              <a:rPr lang="en-US" dirty="0"/>
              <a:t>Keeping the vertices and edges the same, assigning a weight of  1  to each edge, assigning a bound  B = n</a:t>
            </a:r>
          </a:p>
          <a:p>
            <a:pPr>
              <a:tabLst>
                <a:tab pos="3657600" algn="l"/>
                <a:tab pos="7315200" algn="l"/>
              </a:tabLst>
            </a:pPr>
            <a:r>
              <a:rPr lang="en-US" dirty="0"/>
              <a:t>This transformation is done in polynomial time  </a:t>
            </a:r>
            <a:r>
              <a:rPr lang="en-US" dirty="0">
                <a:sym typeface="Symbol" panose="05050102010706020507" pitchFamily="18" charset="2"/>
              </a:rPr>
              <a:t>(n</a:t>
            </a:r>
            <a:r>
              <a:rPr lang="en-US" baseline="30000" dirty="0">
                <a:sym typeface="Symbol" panose="05050102010706020507" pitchFamily="18" charset="2"/>
              </a:rPr>
              <a:t>2</a:t>
            </a:r>
            <a:r>
              <a:rPr lang="en-US" dirty="0">
                <a:sym typeface="Symbol" panose="05050102010706020507" pitchFamily="18" charset="2"/>
              </a:rPr>
              <a:t>)</a:t>
            </a:r>
            <a:endParaRPr lang="en-US" dirty="0"/>
          </a:p>
          <a:p>
            <a:pPr>
              <a:tabLst>
                <a:tab pos="3657600" algn="l"/>
                <a:tab pos="7315200" algn="l"/>
              </a:tabLst>
            </a:pPr>
            <a:r>
              <a:rPr lang="en-US" u="sng" dirty="0">
                <a:solidFill>
                  <a:srgbClr val="FFC000"/>
                </a:solidFill>
              </a:rPr>
              <a:t>Claim</a:t>
            </a:r>
            <a:r>
              <a:rPr lang="en-US" dirty="0"/>
              <a:t>: the answer for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baseline="-25000" dirty="0"/>
              <a:t>1 </a:t>
            </a:r>
            <a:r>
              <a:rPr lang="en-US" dirty="0"/>
              <a:t> is “yes” if and only if the answer for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baseline="-25000" dirty="0">
                <a:sym typeface="Wingdings" panose="05000000000000000000" pitchFamily="2" charset="2"/>
              </a:rPr>
              <a:t>2</a:t>
            </a:r>
            <a:r>
              <a:rPr lang="en-US" dirty="0"/>
              <a:t>  is “yes”</a:t>
            </a:r>
          </a:p>
        </p:txBody>
      </p:sp>
    </p:spTree>
    <p:extLst>
      <p:ext uri="{BB962C8B-B14F-4D97-AF65-F5344CB8AC3E}">
        <p14:creationId xmlns:p14="http://schemas.microsoft.com/office/powerpoint/2010/main" val="25306101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D7DDE2B3-6737-C013-61FF-E113AF2F3A1D}"/>
              </a:ext>
            </a:extLst>
          </p:cNvPr>
          <p:cNvSpPr/>
          <p:nvPr/>
        </p:nvSpPr>
        <p:spPr>
          <a:xfrm>
            <a:off x="6704012" y="1701796"/>
            <a:ext cx="5027929" cy="508003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6A2D719-5DA5-5667-15D3-6CB11CB39849}"/>
              </a:ext>
            </a:extLst>
          </p:cNvPr>
          <p:cNvSpPr/>
          <p:nvPr/>
        </p:nvSpPr>
        <p:spPr>
          <a:xfrm>
            <a:off x="1218883" y="1701797"/>
            <a:ext cx="4037329" cy="50800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/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C000"/>
                </a:solidFill>
              </a:rPr>
              <a:t>Polynomial-time reduction from HC to TSP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C045D6-7A9F-2D84-1435-30475B84C5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8883" y="1701796"/>
            <a:ext cx="10742929" cy="5156204"/>
          </a:xfrm>
        </p:spPr>
        <p:txBody>
          <a:bodyPr>
            <a:normAutofit/>
          </a:bodyPr>
          <a:lstStyle/>
          <a:p>
            <a:pPr marL="0" indent="0">
              <a:buNone/>
              <a:tabLst>
                <a:tab pos="4516438" algn="l"/>
                <a:tab pos="5486400" algn="l"/>
              </a:tabLst>
            </a:pPr>
            <a:r>
              <a:rPr lang="en-US" dirty="0"/>
              <a:t>Hamiltonian Cycle (HC)	</a:t>
            </a:r>
            <a:r>
              <a:rPr lang="en-US" dirty="0">
                <a:sym typeface="Wingdings" panose="05000000000000000000" pitchFamily="2" charset="2"/>
              </a:rPr>
              <a:t>	Traveling Salesperson (TSP)</a:t>
            </a:r>
            <a:endParaRPr lang="en-US" baseline="-25000" dirty="0">
              <a:sym typeface="Wingdings" panose="05000000000000000000" pitchFamily="2" charset="2"/>
            </a:endParaRPr>
          </a:p>
          <a:p>
            <a:pPr marL="0" indent="0">
              <a:buNone/>
              <a:tabLst>
                <a:tab pos="4516438" algn="l"/>
                <a:tab pos="5486400" algn="l"/>
              </a:tabLst>
            </a:pPr>
            <a:r>
              <a:rPr lang="en-US" dirty="0"/>
              <a:t>	</a:t>
            </a:r>
            <a:r>
              <a:rPr lang="en-US" dirty="0">
                <a:sym typeface="Wingdings" panose="05000000000000000000" pitchFamily="2" charset="2"/>
              </a:rPr>
              <a:t> 	B = 5</a:t>
            </a:r>
            <a:endParaRPr lang="en-US" baseline="-25000" dirty="0">
              <a:sym typeface="Wingdings" panose="05000000000000000000" pitchFamily="2" charset="2"/>
            </a:endParaRPr>
          </a:p>
          <a:p>
            <a:pPr marL="0" indent="0">
              <a:buNone/>
              <a:tabLst>
                <a:tab pos="3657600" algn="l"/>
                <a:tab pos="7315200" algn="l"/>
              </a:tabLst>
            </a:pPr>
            <a:r>
              <a:rPr lang="en-US" dirty="0"/>
              <a:t>	 </a:t>
            </a:r>
            <a:r>
              <a:rPr lang="en-US" dirty="0">
                <a:sym typeface="Wingdings" panose="05000000000000000000" pitchFamily="2" charset="2"/>
              </a:rPr>
              <a:t></a:t>
            </a:r>
            <a:endParaRPr lang="en-US" dirty="0"/>
          </a:p>
          <a:p>
            <a:pPr marL="0" indent="0">
              <a:buNone/>
              <a:tabLst>
                <a:tab pos="3657600" algn="l"/>
                <a:tab pos="7315200" algn="l"/>
              </a:tabLst>
            </a:pPr>
            <a:endParaRPr lang="en-US" dirty="0"/>
          </a:p>
          <a:p>
            <a:pPr marL="0" indent="0">
              <a:buNone/>
              <a:tabLst>
                <a:tab pos="3657600" algn="l"/>
                <a:tab pos="7315200" algn="l"/>
              </a:tabLst>
            </a:pPr>
            <a:endParaRPr lang="en-US" dirty="0"/>
          </a:p>
          <a:p>
            <a:pPr marL="0" indent="0">
              <a:buNone/>
              <a:tabLst>
                <a:tab pos="3657600" algn="l"/>
                <a:tab pos="7315200" algn="l"/>
              </a:tabLst>
            </a:pPr>
            <a:endParaRPr lang="en-US" dirty="0"/>
          </a:p>
          <a:p>
            <a:pPr marL="0" indent="0" algn="ctr">
              <a:buNone/>
              <a:tabLst>
                <a:tab pos="7315200" algn="l"/>
              </a:tabLst>
            </a:pPr>
            <a:r>
              <a:rPr lang="en-US" dirty="0">
                <a:solidFill>
                  <a:srgbClr val="FFC000"/>
                </a:solidFill>
              </a:rPr>
              <a:t>An example demonstrating the reduction from HC to TSP</a:t>
            </a:r>
          </a:p>
          <a:p>
            <a:pPr marL="0" indent="0">
              <a:buNone/>
              <a:tabLst>
                <a:tab pos="3657600" algn="l"/>
                <a:tab pos="7315200" algn="l"/>
              </a:tabLst>
            </a:pPr>
            <a:r>
              <a:rPr lang="en-US" dirty="0"/>
              <a:t>The graph in 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baseline="-25000" dirty="0"/>
              <a:t>1</a:t>
            </a:r>
            <a:r>
              <a:rPr lang="en-US" dirty="0"/>
              <a:t>  has a Hamiltonian cycle if and only if the weighted graph in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baseline="-25000" dirty="0"/>
              <a:t>2</a:t>
            </a:r>
            <a:r>
              <a:rPr lang="en-US" dirty="0"/>
              <a:t>  has a tour of total weight </a:t>
            </a:r>
            <a:r>
              <a:rPr lang="en-US" dirty="0">
                <a:sym typeface="Symbol" panose="05050102010706020507" pitchFamily="18" charset="2"/>
              </a:rPr>
              <a:t> B = n.</a:t>
            </a:r>
            <a:endParaRPr lang="en-US" dirty="0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51D945B6-A1AE-C53D-BE8C-8B902BD1938D}"/>
              </a:ext>
            </a:extLst>
          </p:cNvPr>
          <p:cNvGrpSpPr/>
          <p:nvPr/>
        </p:nvGrpSpPr>
        <p:grpSpPr>
          <a:xfrm>
            <a:off x="1903412" y="2209799"/>
            <a:ext cx="2863215" cy="2712720"/>
            <a:chOff x="0" y="0"/>
            <a:chExt cx="2863215" cy="2712720"/>
          </a:xfrm>
        </p:grpSpPr>
        <p:sp>
          <p:nvSpPr>
            <p:cNvPr id="22" name="Freeform 8">
              <a:extLst>
                <a:ext uri="{FF2B5EF4-FFF2-40B4-BE49-F238E27FC236}">
                  <a16:creationId xmlns:a16="http://schemas.microsoft.com/office/drawing/2014/main" id="{D7E55D24-09C2-0A14-684B-15C476994FD5}"/>
                </a:ext>
              </a:extLst>
            </p:cNvPr>
            <p:cNvSpPr/>
            <p:nvPr/>
          </p:nvSpPr>
          <p:spPr>
            <a:xfrm>
              <a:off x="285750" y="400050"/>
              <a:ext cx="1089660" cy="1805940"/>
            </a:xfrm>
            <a:custGeom>
              <a:avLst/>
              <a:gdLst>
                <a:gd name="connsiteX0" fmla="*/ 1089660 w 1089660"/>
                <a:gd name="connsiteY0" fmla="*/ 0 h 1805940"/>
                <a:gd name="connsiteX1" fmla="*/ 0 w 1089660"/>
                <a:gd name="connsiteY1" fmla="*/ 731520 h 1805940"/>
                <a:gd name="connsiteX2" fmla="*/ 449580 w 1089660"/>
                <a:gd name="connsiteY2" fmla="*/ 1805940 h 1805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89660" h="1805940">
                  <a:moveTo>
                    <a:pt x="1089660" y="0"/>
                  </a:moveTo>
                  <a:lnTo>
                    <a:pt x="0" y="731520"/>
                  </a:lnTo>
                  <a:lnTo>
                    <a:pt x="449580" y="1805940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23" name="Freeform 6">
              <a:extLst>
                <a:ext uri="{FF2B5EF4-FFF2-40B4-BE49-F238E27FC236}">
                  <a16:creationId xmlns:a16="http://schemas.microsoft.com/office/drawing/2014/main" id="{80E71F02-6F8E-1F18-4012-9162D935B9EB}"/>
                </a:ext>
              </a:extLst>
            </p:cNvPr>
            <p:cNvSpPr/>
            <p:nvPr/>
          </p:nvSpPr>
          <p:spPr>
            <a:xfrm>
              <a:off x="285750" y="400050"/>
              <a:ext cx="2179320" cy="1805940"/>
            </a:xfrm>
            <a:custGeom>
              <a:avLst/>
              <a:gdLst>
                <a:gd name="connsiteX0" fmla="*/ 1089660 w 2179320"/>
                <a:gd name="connsiteY0" fmla="*/ 0 h 1805940"/>
                <a:gd name="connsiteX1" fmla="*/ 419100 w 2179320"/>
                <a:gd name="connsiteY1" fmla="*/ 1805940 h 1805940"/>
                <a:gd name="connsiteX2" fmla="*/ 2156460 w 2179320"/>
                <a:gd name="connsiteY2" fmla="*/ 678180 h 1805940"/>
                <a:gd name="connsiteX3" fmla="*/ 0 w 2179320"/>
                <a:gd name="connsiteY3" fmla="*/ 723900 h 1805940"/>
                <a:gd name="connsiteX4" fmla="*/ 1706880 w 2179320"/>
                <a:gd name="connsiteY4" fmla="*/ 1798320 h 1805940"/>
                <a:gd name="connsiteX5" fmla="*/ 2179320 w 2179320"/>
                <a:gd name="connsiteY5" fmla="*/ 678180 h 1805940"/>
                <a:gd name="connsiteX6" fmla="*/ 1089660 w 2179320"/>
                <a:gd name="connsiteY6" fmla="*/ 0 h 1805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179320" h="1805940">
                  <a:moveTo>
                    <a:pt x="1089660" y="0"/>
                  </a:moveTo>
                  <a:lnTo>
                    <a:pt x="419100" y="1805940"/>
                  </a:lnTo>
                  <a:lnTo>
                    <a:pt x="2156460" y="678180"/>
                  </a:lnTo>
                  <a:lnTo>
                    <a:pt x="0" y="723900"/>
                  </a:lnTo>
                  <a:lnTo>
                    <a:pt x="1706880" y="1798320"/>
                  </a:lnTo>
                  <a:lnTo>
                    <a:pt x="2179320" y="678180"/>
                  </a:lnTo>
                  <a:lnTo>
                    <a:pt x="1089660" y="0"/>
                  </a:lnTo>
                  <a:close/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66A182B1-8E71-1BAA-F6CD-D85E91F1B9AE}"/>
                </a:ext>
              </a:extLst>
            </p:cNvPr>
            <p:cNvSpPr/>
            <p:nvPr/>
          </p:nvSpPr>
          <p:spPr>
            <a:xfrm>
              <a:off x="1304925" y="333375"/>
              <a:ext cx="137160" cy="13716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86E996C3-AD1A-758B-8AD9-54992856D393}"/>
                </a:ext>
              </a:extLst>
            </p:cNvPr>
            <p:cNvSpPr/>
            <p:nvPr/>
          </p:nvSpPr>
          <p:spPr>
            <a:xfrm>
              <a:off x="219075" y="1057275"/>
              <a:ext cx="137160" cy="13716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B7C06F7A-2028-964A-C365-DFE5565FBE1E}"/>
                </a:ext>
              </a:extLst>
            </p:cNvPr>
            <p:cNvSpPr/>
            <p:nvPr/>
          </p:nvSpPr>
          <p:spPr>
            <a:xfrm>
              <a:off x="2371725" y="1009650"/>
              <a:ext cx="137160" cy="13716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266CE6B2-86E1-BB62-2A41-7F36B6D7717B}"/>
                </a:ext>
              </a:extLst>
            </p:cNvPr>
            <p:cNvSpPr/>
            <p:nvPr/>
          </p:nvSpPr>
          <p:spPr>
            <a:xfrm>
              <a:off x="647700" y="2133600"/>
              <a:ext cx="137160" cy="13716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28" name="Text Box 2">
              <a:extLst>
                <a:ext uri="{FF2B5EF4-FFF2-40B4-BE49-F238E27FC236}">
                  <a16:creationId xmlns:a16="http://schemas.microsoft.com/office/drawing/2014/main" id="{CCECE5FB-1E7A-9ACE-D713-3F061163A12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09675" y="0"/>
              <a:ext cx="358140" cy="43624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>
              <a:spAutoFit/>
            </a:bodyPr>
            <a:lstStyle/>
            <a:p>
              <a:pPr marL="0" marR="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40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1</a:t>
              </a:r>
              <a:endParaRPr lang="en-US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29" name="Text Box 2">
              <a:extLst>
                <a:ext uri="{FF2B5EF4-FFF2-40B4-BE49-F238E27FC236}">
                  <a16:creationId xmlns:a16="http://schemas.microsoft.com/office/drawing/2014/main" id="{EA052174-86EB-CB09-9916-82FFABD79AE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05075" y="819150"/>
              <a:ext cx="358140" cy="43624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>
              <a:spAutoFit/>
            </a:bodyPr>
            <a:lstStyle/>
            <a:p>
              <a:pPr marL="0" marR="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40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2</a:t>
              </a:r>
              <a:endParaRPr lang="en-US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30" name="Text Box 2">
              <a:extLst>
                <a:ext uri="{FF2B5EF4-FFF2-40B4-BE49-F238E27FC236}">
                  <a16:creationId xmlns:a16="http://schemas.microsoft.com/office/drawing/2014/main" id="{B7E39BC3-D6DB-5E05-9020-0148CD31EC8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57375" y="2276475"/>
              <a:ext cx="358140" cy="43624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>
              <a:spAutoFit/>
            </a:bodyPr>
            <a:lstStyle/>
            <a:p>
              <a:pPr marL="0" marR="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40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3</a:t>
              </a:r>
              <a:endParaRPr lang="en-US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8F12C578-87AA-DDA9-FD0C-B987B77833A0}"/>
                </a:ext>
              </a:extLst>
            </p:cNvPr>
            <p:cNvSpPr/>
            <p:nvPr/>
          </p:nvSpPr>
          <p:spPr>
            <a:xfrm>
              <a:off x="1914525" y="2133600"/>
              <a:ext cx="137160" cy="13716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2" name="Text Box 2">
              <a:extLst>
                <a:ext uri="{FF2B5EF4-FFF2-40B4-BE49-F238E27FC236}">
                  <a16:creationId xmlns:a16="http://schemas.microsoft.com/office/drawing/2014/main" id="{954ABB15-C700-8236-E224-6C20427E0F5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8625" y="2266950"/>
              <a:ext cx="358140" cy="43624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>
              <a:spAutoFit/>
            </a:bodyPr>
            <a:lstStyle/>
            <a:p>
              <a:pPr marL="0" marR="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40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4</a:t>
              </a:r>
              <a:endParaRPr lang="en-US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33" name="Text Box 2">
              <a:extLst>
                <a:ext uri="{FF2B5EF4-FFF2-40B4-BE49-F238E27FC236}">
                  <a16:creationId xmlns:a16="http://schemas.microsoft.com/office/drawing/2014/main" id="{FFB09CA8-5C40-AE3E-7ABD-5CA645FB7AF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762000"/>
              <a:ext cx="358140" cy="43624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>
              <a:spAutoFit/>
            </a:bodyPr>
            <a:lstStyle/>
            <a:p>
              <a:pPr marL="0" marR="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40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5</a:t>
              </a:r>
              <a:endParaRPr lang="en-US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24C406D1-45C1-1416-98F8-A14195A54B07}"/>
              </a:ext>
            </a:extLst>
          </p:cNvPr>
          <p:cNvGrpSpPr/>
          <p:nvPr/>
        </p:nvGrpSpPr>
        <p:grpSpPr>
          <a:xfrm>
            <a:off x="7667942" y="2412995"/>
            <a:ext cx="2863215" cy="2712720"/>
            <a:chOff x="0" y="0"/>
            <a:chExt cx="2863215" cy="2712720"/>
          </a:xfrm>
        </p:grpSpPr>
        <p:sp>
          <p:nvSpPr>
            <p:cNvPr id="36" name="Freeform 8">
              <a:extLst>
                <a:ext uri="{FF2B5EF4-FFF2-40B4-BE49-F238E27FC236}">
                  <a16:creationId xmlns:a16="http://schemas.microsoft.com/office/drawing/2014/main" id="{B38B4571-6EEB-D898-6625-4373BBA610E0}"/>
                </a:ext>
              </a:extLst>
            </p:cNvPr>
            <p:cNvSpPr/>
            <p:nvPr/>
          </p:nvSpPr>
          <p:spPr>
            <a:xfrm>
              <a:off x="285750" y="400050"/>
              <a:ext cx="1089660" cy="1805940"/>
            </a:xfrm>
            <a:custGeom>
              <a:avLst/>
              <a:gdLst>
                <a:gd name="connsiteX0" fmla="*/ 1089660 w 1089660"/>
                <a:gd name="connsiteY0" fmla="*/ 0 h 1805940"/>
                <a:gd name="connsiteX1" fmla="*/ 0 w 1089660"/>
                <a:gd name="connsiteY1" fmla="*/ 731520 h 1805940"/>
                <a:gd name="connsiteX2" fmla="*/ 449580 w 1089660"/>
                <a:gd name="connsiteY2" fmla="*/ 1805940 h 1805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89660" h="1805940">
                  <a:moveTo>
                    <a:pt x="1089660" y="0"/>
                  </a:moveTo>
                  <a:lnTo>
                    <a:pt x="0" y="731520"/>
                  </a:lnTo>
                  <a:lnTo>
                    <a:pt x="449580" y="1805940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7" name="Freeform 6">
              <a:extLst>
                <a:ext uri="{FF2B5EF4-FFF2-40B4-BE49-F238E27FC236}">
                  <a16:creationId xmlns:a16="http://schemas.microsoft.com/office/drawing/2014/main" id="{1658BB62-DA8E-C3B4-9CEA-88B154D64A30}"/>
                </a:ext>
              </a:extLst>
            </p:cNvPr>
            <p:cNvSpPr/>
            <p:nvPr/>
          </p:nvSpPr>
          <p:spPr>
            <a:xfrm>
              <a:off x="285750" y="400050"/>
              <a:ext cx="2179320" cy="1805940"/>
            </a:xfrm>
            <a:custGeom>
              <a:avLst/>
              <a:gdLst>
                <a:gd name="connsiteX0" fmla="*/ 1089660 w 2179320"/>
                <a:gd name="connsiteY0" fmla="*/ 0 h 1805940"/>
                <a:gd name="connsiteX1" fmla="*/ 419100 w 2179320"/>
                <a:gd name="connsiteY1" fmla="*/ 1805940 h 1805940"/>
                <a:gd name="connsiteX2" fmla="*/ 2156460 w 2179320"/>
                <a:gd name="connsiteY2" fmla="*/ 678180 h 1805940"/>
                <a:gd name="connsiteX3" fmla="*/ 0 w 2179320"/>
                <a:gd name="connsiteY3" fmla="*/ 723900 h 1805940"/>
                <a:gd name="connsiteX4" fmla="*/ 1706880 w 2179320"/>
                <a:gd name="connsiteY4" fmla="*/ 1798320 h 1805940"/>
                <a:gd name="connsiteX5" fmla="*/ 2179320 w 2179320"/>
                <a:gd name="connsiteY5" fmla="*/ 678180 h 1805940"/>
                <a:gd name="connsiteX6" fmla="*/ 1089660 w 2179320"/>
                <a:gd name="connsiteY6" fmla="*/ 0 h 1805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179320" h="1805940">
                  <a:moveTo>
                    <a:pt x="1089660" y="0"/>
                  </a:moveTo>
                  <a:lnTo>
                    <a:pt x="419100" y="1805940"/>
                  </a:lnTo>
                  <a:lnTo>
                    <a:pt x="2156460" y="678180"/>
                  </a:lnTo>
                  <a:lnTo>
                    <a:pt x="0" y="723900"/>
                  </a:lnTo>
                  <a:lnTo>
                    <a:pt x="1706880" y="1798320"/>
                  </a:lnTo>
                  <a:lnTo>
                    <a:pt x="2179320" y="678180"/>
                  </a:lnTo>
                  <a:lnTo>
                    <a:pt x="1089660" y="0"/>
                  </a:lnTo>
                  <a:close/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E057AA19-5F2C-2A03-5756-9003911FB12B}"/>
                </a:ext>
              </a:extLst>
            </p:cNvPr>
            <p:cNvSpPr/>
            <p:nvPr/>
          </p:nvSpPr>
          <p:spPr>
            <a:xfrm>
              <a:off x="1304925" y="333375"/>
              <a:ext cx="137160" cy="13716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A0469E7F-8A68-BC31-1107-2DCDA6E3F179}"/>
                </a:ext>
              </a:extLst>
            </p:cNvPr>
            <p:cNvSpPr/>
            <p:nvPr/>
          </p:nvSpPr>
          <p:spPr>
            <a:xfrm>
              <a:off x="219075" y="1057275"/>
              <a:ext cx="137160" cy="13716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A4A1448C-C86F-F4C9-93D4-659F732E85AE}"/>
                </a:ext>
              </a:extLst>
            </p:cNvPr>
            <p:cNvSpPr/>
            <p:nvPr/>
          </p:nvSpPr>
          <p:spPr>
            <a:xfrm>
              <a:off x="2371725" y="1009650"/>
              <a:ext cx="137160" cy="13716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F7A1FFF7-C8D6-A45A-A5A8-070670D50E9D}"/>
                </a:ext>
              </a:extLst>
            </p:cNvPr>
            <p:cNvSpPr/>
            <p:nvPr/>
          </p:nvSpPr>
          <p:spPr>
            <a:xfrm>
              <a:off x="647700" y="2133600"/>
              <a:ext cx="137160" cy="13716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2" name="Text Box 2">
              <a:extLst>
                <a:ext uri="{FF2B5EF4-FFF2-40B4-BE49-F238E27FC236}">
                  <a16:creationId xmlns:a16="http://schemas.microsoft.com/office/drawing/2014/main" id="{D0D259E0-5C31-E8FC-945A-E8EBBA46F9B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09675" y="0"/>
              <a:ext cx="358140" cy="43624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>
              <a:spAutoFit/>
            </a:bodyPr>
            <a:lstStyle/>
            <a:p>
              <a:pPr marL="0" marR="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40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1</a:t>
              </a:r>
              <a:endParaRPr lang="en-US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43" name="Text Box 2">
              <a:extLst>
                <a:ext uri="{FF2B5EF4-FFF2-40B4-BE49-F238E27FC236}">
                  <a16:creationId xmlns:a16="http://schemas.microsoft.com/office/drawing/2014/main" id="{7ED1BD88-BE97-EBCE-DB00-0137C5E6F15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05075" y="819150"/>
              <a:ext cx="358140" cy="43624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>
              <a:spAutoFit/>
            </a:bodyPr>
            <a:lstStyle/>
            <a:p>
              <a:pPr marL="0" marR="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40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2</a:t>
              </a:r>
              <a:endParaRPr lang="en-US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44" name="Text Box 2">
              <a:extLst>
                <a:ext uri="{FF2B5EF4-FFF2-40B4-BE49-F238E27FC236}">
                  <a16:creationId xmlns:a16="http://schemas.microsoft.com/office/drawing/2014/main" id="{935C236C-C039-CC58-6BF2-9F1122DDA91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57375" y="2276475"/>
              <a:ext cx="358140" cy="43624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>
              <a:spAutoFit/>
            </a:bodyPr>
            <a:lstStyle/>
            <a:p>
              <a:pPr marL="0" marR="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40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3</a:t>
              </a:r>
              <a:endParaRPr lang="en-US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2F6D63CA-1DC7-1F99-E935-D95827F500AA}"/>
                </a:ext>
              </a:extLst>
            </p:cNvPr>
            <p:cNvSpPr/>
            <p:nvPr/>
          </p:nvSpPr>
          <p:spPr>
            <a:xfrm>
              <a:off x="1914525" y="2133600"/>
              <a:ext cx="137160" cy="13716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6" name="Text Box 2">
              <a:extLst>
                <a:ext uri="{FF2B5EF4-FFF2-40B4-BE49-F238E27FC236}">
                  <a16:creationId xmlns:a16="http://schemas.microsoft.com/office/drawing/2014/main" id="{2683D6EB-5688-F826-66B3-886220ECC8D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8625" y="2266950"/>
              <a:ext cx="358140" cy="43624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>
              <a:spAutoFit/>
            </a:bodyPr>
            <a:lstStyle/>
            <a:p>
              <a:pPr marL="0" marR="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40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4</a:t>
              </a:r>
              <a:endParaRPr lang="en-US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47" name="Text Box 2">
              <a:extLst>
                <a:ext uri="{FF2B5EF4-FFF2-40B4-BE49-F238E27FC236}">
                  <a16:creationId xmlns:a16="http://schemas.microsoft.com/office/drawing/2014/main" id="{0554A55E-968A-622A-B932-EF78C15A104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762000"/>
              <a:ext cx="358140" cy="43624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>
              <a:spAutoFit/>
            </a:bodyPr>
            <a:lstStyle/>
            <a:p>
              <a:pPr marL="0" marR="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40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5</a:t>
              </a:r>
              <a:endParaRPr lang="en-US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48" name="Text Box 2">
              <a:extLst>
                <a:ext uri="{FF2B5EF4-FFF2-40B4-BE49-F238E27FC236}">
                  <a16:creationId xmlns:a16="http://schemas.microsoft.com/office/drawing/2014/main" id="{6E2460B3-380E-FA42-3ABC-EE403AF8F0A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7700" y="514350"/>
              <a:ext cx="358140" cy="43624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>
              <a:spAutoFit/>
            </a:bodyPr>
            <a:lstStyle/>
            <a:p>
              <a:pPr marL="0" marR="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40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1</a:t>
              </a:r>
              <a:endParaRPr lang="en-US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49" name="Text Box 2">
              <a:extLst>
                <a:ext uri="{FF2B5EF4-FFF2-40B4-BE49-F238E27FC236}">
                  <a16:creationId xmlns:a16="http://schemas.microsoft.com/office/drawing/2014/main" id="{8FEAFA8A-1258-AFDE-7EAA-6EC799C0395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09750" y="466725"/>
              <a:ext cx="358140" cy="43624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>
              <a:spAutoFit/>
            </a:bodyPr>
            <a:lstStyle/>
            <a:p>
              <a:pPr marL="0" marR="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40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1</a:t>
              </a:r>
              <a:endParaRPr lang="en-US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50" name="Text Box 2">
              <a:extLst>
                <a:ext uri="{FF2B5EF4-FFF2-40B4-BE49-F238E27FC236}">
                  <a16:creationId xmlns:a16="http://schemas.microsoft.com/office/drawing/2014/main" id="{9C3050C8-99DA-FE43-5EDC-F4B71AA6FD0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19200" y="571500"/>
              <a:ext cx="358140" cy="43624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>
              <a:spAutoFit/>
            </a:bodyPr>
            <a:lstStyle/>
            <a:p>
              <a:pPr marL="0" marR="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40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1</a:t>
              </a:r>
              <a:endParaRPr lang="en-US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51" name="Text Box 2">
              <a:extLst>
                <a:ext uri="{FF2B5EF4-FFF2-40B4-BE49-F238E27FC236}">
                  <a16:creationId xmlns:a16="http://schemas.microsoft.com/office/drawing/2014/main" id="{B1FCAF3E-188C-FD31-EE6B-FF8D4239001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6700" y="1485900"/>
              <a:ext cx="358140" cy="43624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>
              <a:spAutoFit/>
            </a:bodyPr>
            <a:lstStyle/>
            <a:p>
              <a:pPr marL="0" marR="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40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1</a:t>
              </a:r>
              <a:endParaRPr lang="en-US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52" name="Text Box 2">
              <a:extLst>
                <a:ext uri="{FF2B5EF4-FFF2-40B4-BE49-F238E27FC236}">
                  <a16:creationId xmlns:a16="http://schemas.microsoft.com/office/drawing/2014/main" id="{1ECF1FFE-36A8-EB23-F9A7-D2ADB8D1AAC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7800" y="1895475"/>
              <a:ext cx="358140" cy="43624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>
              <a:spAutoFit/>
            </a:bodyPr>
            <a:lstStyle/>
            <a:p>
              <a:pPr marL="0" marR="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40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1</a:t>
              </a:r>
              <a:endParaRPr lang="en-US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53" name="Text Box 2">
              <a:extLst>
                <a:ext uri="{FF2B5EF4-FFF2-40B4-BE49-F238E27FC236}">
                  <a16:creationId xmlns:a16="http://schemas.microsoft.com/office/drawing/2014/main" id="{E50A6FC8-AB4A-30BC-DD74-12B0931E938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43050" y="838200"/>
              <a:ext cx="358140" cy="43624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>
              <a:spAutoFit/>
            </a:bodyPr>
            <a:lstStyle/>
            <a:p>
              <a:pPr marL="0" marR="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40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1</a:t>
              </a:r>
              <a:endParaRPr lang="en-US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54" name="Text Box 2">
              <a:extLst>
                <a:ext uri="{FF2B5EF4-FFF2-40B4-BE49-F238E27FC236}">
                  <a16:creationId xmlns:a16="http://schemas.microsoft.com/office/drawing/2014/main" id="{570B75F2-A053-741A-73E2-6D73A225E22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95425" y="1343025"/>
              <a:ext cx="358140" cy="43624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>
              <a:spAutoFit/>
            </a:bodyPr>
            <a:lstStyle/>
            <a:p>
              <a:pPr marL="0" marR="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40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1</a:t>
              </a:r>
              <a:endParaRPr lang="en-US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55" name="Text Box 2">
              <a:extLst>
                <a:ext uri="{FF2B5EF4-FFF2-40B4-BE49-F238E27FC236}">
                  <a16:creationId xmlns:a16="http://schemas.microsoft.com/office/drawing/2014/main" id="{16129C2D-4D89-0920-2B85-6B606F01FA5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90750" y="1543050"/>
              <a:ext cx="358140" cy="43624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>
              <a:spAutoFit/>
            </a:bodyPr>
            <a:lstStyle/>
            <a:p>
              <a:pPr marL="0" marR="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40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1</a:t>
              </a:r>
              <a:endParaRPr lang="en-US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943778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D7DDE2B3-6737-C013-61FF-E113AF2F3A1D}"/>
              </a:ext>
            </a:extLst>
          </p:cNvPr>
          <p:cNvSpPr/>
          <p:nvPr/>
        </p:nvSpPr>
        <p:spPr>
          <a:xfrm>
            <a:off x="6704012" y="1701796"/>
            <a:ext cx="5027929" cy="508003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6A2D719-5DA5-5667-15D3-6CB11CB39849}"/>
              </a:ext>
            </a:extLst>
          </p:cNvPr>
          <p:cNvSpPr/>
          <p:nvPr/>
        </p:nvSpPr>
        <p:spPr>
          <a:xfrm>
            <a:off x="1218883" y="1701797"/>
            <a:ext cx="4037329" cy="50800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/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C000"/>
                </a:solidFill>
              </a:rPr>
              <a:t>Polynomial-time reduction from HC to TSP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C045D6-7A9F-2D84-1435-30475B84C5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8883" y="1701796"/>
            <a:ext cx="10742929" cy="5156204"/>
          </a:xfrm>
        </p:spPr>
        <p:txBody>
          <a:bodyPr>
            <a:normAutofit/>
          </a:bodyPr>
          <a:lstStyle/>
          <a:p>
            <a:pPr marL="0" indent="0">
              <a:buNone/>
              <a:tabLst>
                <a:tab pos="4516438" algn="l"/>
                <a:tab pos="5486400" algn="l"/>
              </a:tabLst>
            </a:pPr>
            <a:r>
              <a:rPr lang="en-US" dirty="0"/>
              <a:t>Hamiltonian Cycle (HC)	</a:t>
            </a:r>
            <a:r>
              <a:rPr lang="en-US" dirty="0">
                <a:sym typeface="Wingdings" panose="05000000000000000000" pitchFamily="2" charset="2"/>
              </a:rPr>
              <a:t>	Traveling Salesperson (TSP)</a:t>
            </a:r>
            <a:endParaRPr lang="en-US" baseline="-25000" dirty="0">
              <a:sym typeface="Wingdings" panose="05000000000000000000" pitchFamily="2" charset="2"/>
            </a:endParaRPr>
          </a:p>
          <a:p>
            <a:pPr marL="0" indent="0">
              <a:buNone/>
              <a:tabLst>
                <a:tab pos="4516438" algn="l"/>
                <a:tab pos="5486400" algn="l"/>
              </a:tabLst>
            </a:pPr>
            <a:r>
              <a:rPr lang="en-US" dirty="0"/>
              <a:t>	</a:t>
            </a:r>
            <a:r>
              <a:rPr lang="en-US" dirty="0">
                <a:sym typeface="Wingdings" panose="05000000000000000000" pitchFamily="2" charset="2"/>
              </a:rPr>
              <a:t> 	B = 5</a:t>
            </a:r>
            <a:endParaRPr lang="en-US" baseline="-25000" dirty="0">
              <a:sym typeface="Wingdings" panose="05000000000000000000" pitchFamily="2" charset="2"/>
            </a:endParaRPr>
          </a:p>
          <a:p>
            <a:pPr marL="0" indent="0">
              <a:buNone/>
              <a:tabLst>
                <a:tab pos="3657600" algn="l"/>
                <a:tab pos="7315200" algn="l"/>
              </a:tabLst>
            </a:pPr>
            <a:r>
              <a:rPr lang="en-US" dirty="0"/>
              <a:t>	 </a:t>
            </a:r>
            <a:r>
              <a:rPr lang="en-US" dirty="0">
                <a:sym typeface="Wingdings" panose="05000000000000000000" pitchFamily="2" charset="2"/>
              </a:rPr>
              <a:t></a:t>
            </a:r>
            <a:endParaRPr lang="en-US" dirty="0"/>
          </a:p>
          <a:p>
            <a:pPr marL="0" indent="0">
              <a:buNone/>
              <a:tabLst>
                <a:tab pos="3657600" algn="l"/>
                <a:tab pos="7315200" algn="l"/>
              </a:tabLst>
            </a:pPr>
            <a:endParaRPr lang="en-US" dirty="0"/>
          </a:p>
          <a:p>
            <a:pPr marL="0" indent="0">
              <a:buNone/>
              <a:tabLst>
                <a:tab pos="3657600" algn="l"/>
                <a:tab pos="7315200" algn="l"/>
              </a:tabLst>
            </a:pPr>
            <a:endParaRPr lang="en-US" dirty="0"/>
          </a:p>
          <a:p>
            <a:pPr marL="0" indent="0">
              <a:buNone/>
              <a:tabLst>
                <a:tab pos="3657600" algn="l"/>
                <a:tab pos="7315200" algn="l"/>
              </a:tabLst>
            </a:pPr>
            <a:endParaRPr lang="en-US" dirty="0"/>
          </a:p>
          <a:p>
            <a:pPr marL="0" indent="0" algn="ctr">
              <a:buNone/>
              <a:tabLst>
                <a:tab pos="7315200" algn="l"/>
              </a:tabLst>
            </a:pPr>
            <a:r>
              <a:rPr lang="en-US" dirty="0">
                <a:solidFill>
                  <a:srgbClr val="FFC000"/>
                </a:solidFill>
              </a:rPr>
              <a:t>TSP is “just as hard” as HC</a:t>
            </a:r>
          </a:p>
          <a:p>
            <a:pPr marL="0" indent="0">
              <a:buNone/>
              <a:tabLst>
                <a:tab pos="3657600" algn="l"/>
                <a:tab pos="7315200" algn="l"/>
              </a:tabLst>
            </a:pPr>
            <a:r>
              <a:rPr lang="en-US" dirty="0"/>
              <a:t>All instances of Hamiltonian Cycle can be transformed to some of the instances of Traveling Salesperson using this polynomial reduction.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51D945B6-A1AE-C53D-BE8C-8B902BD1938D}"/>
              </a:ext>
            </a:extLst>
          </p:cNvPr>
          <p:cNvGrpSpPr/>
          <p:nvPr/>
        </p:nvGrpSpPr>
        <p:grpSpPr>
          <a:xfrm>
            <a:off x="1903412" y="2209799"/>
            <a:ext cx="2863215" cy="2712720"/>
            <a:chOff x="0" y="0"/>
            <a:chExt cx="2863215" cy="2712720"/>
          </a:xfrm>
        </p:grpSpPr>
        <p:sp>
          <p:nvSpPr>
            <p:cNvPr id="22" name="Freeform 8">
              <a:extLst>
                <a:ext uri="{FF2B5EF4-FFF2-40B4-BE49-F238E27FC236}">
                  <a16:creationId xmlns:a16="http://schemas.microsoft.com/office/drawing/2014/main" id="{D7E55D24-09C2-0A14-684B-15C476994FD5}"/>
                </a:ext>
              </a:extLst>
            </p:cNvPr>
            <p:cNvSpPr/>
            <p:nvPr/>
          </p:nvSpPr>
          <p:spPr>
            <a:xfrm>
              <a:off x="285750" y="400050"/>
              <a:ext cx="1089660" cy="1805940"/>
            </a:xfrm>
            <a:custGeom>
              <a:avLst/>
              <a:gdLst>
                <a:gd name="connsiteX0" fmla="*/ 1089660 w 1089660"/>
                <a:gd name="connsiteY0" fmla="*/ 0 h 1805940"/>
                <a:gd name="connsiteX1" fmla="*/ 0 w 1089660"/>
                <a:gd name="connsiteY1" fmla="*/ 731520 h 1805940"/>
                <a:gd name="connsiteX2" fmla="*/ 449580 w 1089660"/>
                <a:gd name="connsiteY2" fmla="*/ 1805940 h 1805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89660" h="1805940">
                  <a:moveTo>
                    <a:pt x="1089660" y="0"/>
                  </a:moveTo>
                  <a:lnTo>
                    <a:pt x="0" y="731520"/>
                  </a:lnTo>
                  <a:lnTo>
                    <a:pt x="449580" y="1805940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23" name="Freeform 6">
              <a:extLst>
                <a:ext uri="{FF2B5EF4-FFF2-40B4-BE49-F238E27FC236}">
                  <a16:creationId xmlns:a16="http://schemas.microsoft.com/office/drawing/2014/main" id="{80E71F02-6F8E-1F18-4012-9162D935B9EB}"/>
                </a:ext>
              </a:extLst>
            </p:cNvPr>
            <p:cNvSpPr/>
            <p:nvPr/>
          </p:nvSpPr>
          <p:spPr>
            <a:xfrm>
              <a:off x="285750" y="400050"/>
              <a:ext cx="2179320" cy="1805940"/>
            </a:xfrm>
            <a:custGeom>
              <a:avLst/>
              <a:gdLst>
                <a:gd name="connsiteX0" fmla="*/ 1089660 w 2179320"/>
                <a:gd name="connsiteY0" fmla="*/ 0 h 1805940"/>
                <a:gd name="connsiteX1" fmla="*/ 419100 w 2179320"/>
                <a:gd name="connsiteY1" fmla="*/ 1805940 h 1805940"/>
                <a:gd name="connsiteX2" fmla="*/ 2156460 w 2179320"/>
                <a:gd name="connsiteY2" fmla="*/ 678180 h 1805940"/>
                <a:gd name="connsiteX3" fmla="*/ 0 w 2179320"/>
                <a:gd name="connsiteY3" fmla="*/ 723900 h 1805940"/>
                <a:gd name="connsiteX4" fmla="*/ 1706880 w 2179320"/>
                <a:gd name="connsiteY4" fmla="*/ 1798320 h 1805940"/>
                <a:gd name="connsiteX5" fmla="*/ 2179320 w 2179320"/>
                <a:gd name="connsiteY5" fmla="*/ 678180 h 1805940"/>
                <a:gd name="connsiteX6" fmla="*/ 1089660 w 2179320"/>
                <a:gd name="connsiteY6" fmla="*/ 0 h 1805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179320" h="1805940">
                  <a:moveTo>
                    <a:pt x="1089660" y="0"/>
                  </a:moveTo>
                  <a:lnTo>
                    <a:pt x="419100" y="1805940"/>
                  </a:lnTo>
                  <a:lnTo>
                    <a:pt x="2156460" y="678180"/>
                  </a:lnTo>
                  <a:lnTo>
                    <a:pt x="0" y="723900"/>
                  </a:lnTo>
                  <a:lnTo>
                    <a:pt x="1706880" y="1798320"/>
                  </a:lnTo>
                  <a:lnTo>
                    <a:pt x="2179320" y="678180"/>
                  </a:lnTo>
                  <a:lnTo>
                    <a:pt x="1089660" y="0"/>
                  </a:lnTo>
                  <a:close/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66A182B1-8E71-1BAA-F6CD-D85E91F1B9AE}"/>
                </a:ext>
              </a:extLst>
            </p:cNvPr>
            <p:cNvSpPr/>
            <p:nvPr/>
          </p:nvSpPr>
          <p:spPr>
            <a:xfrm>
              <a:off x="1304925" y="333375"/>
              <a:ext cx="137160" cy="13716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86E996C3-AD1A-758B-8AD9-54992856D393}"/>
                </a:ext>
              </a:extLst>
            </p:cNvPr>
            <p:cNvSpPr/>
            <p:nvPr/>
          </p:nvSpPr>
          <p:spPr>
            <a:xfrm>
              <a:off x="219075" y="1057275"/>
              <a:ext cx="137160" cy="13716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B7C06F7A-2028-964A-C365-DFE5565FBE1E}"/>
                </a:ext>
              </a:extLst>
            </p:cNvPr>
            <p:cNvSpPr/>
            <p:nvPr/>
          </p:nvSpPr>
          <p:spPr>
            <a:xfrm>
              <a:off x="2371725" y="1009650"/>
              <a:ext cx="137160" cy="13716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266CE6B2-86E1-BB62-2A41-7F36B6D7717B}"/>
                </a:ext>
              </a:extLst>
            </p:cNvPr>
            <p:cNvSpPr/>
            <p:nvPr/>
          </p:nvSpPr>
          <p:spPr>
            <a:xfrm>
              <a:off x="647700" y="2133600"/>
              <a:ext cx="137160" cy="13716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28" name="Text Box 2">
              <a:extLst>
                <a:ext uri="{FF2B5EF4-FFF2-40B4-BE49-F238E27FC236}">
                  <a16:creationId xmlns:a16="http://schemas.microsoft.com/office/drawing/2014/main" id="{CCECE5FB-1E7A-9ACE-D713-3F061163A12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09675" y="0"/>
              <a:ext cx="358140" cy="43624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>
              <a:spAutoFit/>
            </a:bodyPr>
            <a:lstStyle/>
            <a:p>
              <a:pPr marL="0" marR="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40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1</a:t>
              </a:r>
              <a:endParaRPr lang="en-US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29" name="Text Box 2">
              <a:extLst>
                <a:ext uri="{FF2B5EF4-FFF2-40B4-BE49-F238E27FC236}">
                  <a16:creationId xmlns:a16="http://schemas.microsoft.com/office/drawing/2014/main" id="{EA052174-86EB-CB09-9916-82FFABD79AE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05075" y="819150"/>
              <a:ext cx="358140" cy="43624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>
              <a:spAutoFit/>
            </a:bodyPr>
            <a:lstStyle/>
            <a:p>
              <a:pPr marL="0" marR="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40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2</a:t>
              </a:r>
              <a:endParaRPr lang="en-US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30" name="Text Box 2">
              <a:extLst>
                <a:ext uri="{FF2B5EF4-FFF2-40B4-BE49-F238E27FC236}">
                  <a16:creationId xmlns:a16="http://schemas.microsoft.com/office/drawing/2014/main" id="{B7E39BC3-D6DB-5E05-9020-0148CD31EC8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57375" y="2276475"/>
              <a:ext cx="358140" cy="43624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>
              <a:spAutoFit/>
            </a:bodyPr>
            <a:lstStyle/>
            <a:p>
              <a:pPr marL="0" marR="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40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3</a:t>
              </a:r>
              <a:endParaRPr lang="en-US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8F12C578-87AA-DDA9-FD0C-B987B77833A0}"/>
                </a:ext>
              </a:extLst>
            </p:cNvPr>
            <p:cNvSpPr/>
            <p:nvPr/>
          </p:nvSpPr>
          <p:spPr>
            <a:xfrm>
              <a:off x="1914525" y="2133600"/>
              <a:ext cx="137160" cy="13716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2" name="Text Box 2">
              <a:extLst>
                <a:ext uri="{FF2B5EF4-FFF2-40B4-BE49-F238E27FC236}">
                  <a16:creationId xmlns:a16="http://schemas.microsoft.com/office/drawing/2014/main" id="{954ABB15-C700-8236-E224-6C20427E0F5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8625" y="2266950"/>
              <a:ext cx="358140" cy="43624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>
              <a:spAutoFit/>
            </a:bodyPr>
            <a:lstStyle/>
            <a:p>
              <a:pPr marL="0" marR="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40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4</a:t>
              </a:r>
              <a:endParaRPr lang="en-US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33" name="Text Box 2">
              <a:extLst>
                <a:ext uri="{FF2B5EF4-FFF2-40B4-BE49-F238E27FC236}">
                  <a16:creationId xmlns:a16="http://schemas.microsoft.com/office/drawing/2014/main" id="{FFB09CA8-5C40-AE3E-7ABD-5CA645FB7AF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762000"/>
              <a:ext cx="358140" cy="43624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>
              <a:spAutoFit/>
            </a:bodyPr>
            <a:lstStyle/>
            <a:p>
              <a:pPr marL="0" marR="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40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5</a:t>
              </a:r>
              <a:endParaRPr lang="en-US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24C406D1-45C1-1416-98F8-A14195A54B07}"/>
              </a:ext>
            </a:extLst>
          </p:cNvPr>
          <p:cNvGrpSpPr/>
          <p:nvPr/>
        </p:nvGrpSpPr>
        <p:grpSpPr>
          <a:xfrm>
            <a:off x="7667942" y="2412995"/>
            <a:ext cx="2863215" cy="2712720"/>
            <a:chOff x="0" y="0"/>
            <a:chExt cx="2863215" cy="2712720"/>
          </a:xfrm>
        </p:grpSpPr>
        <p:sp>
          <p:nvSpPr>
            <p:cNvPr id="36" name="Freeform 8">
              <a:extLst>
                <a:ext uri="{FF2B5EF4-FFF2-40B4-BE49-F238E27FC236}">
                  <a16:creationId xmlns:a16="http://schemas.microsoft.com/office/drawing/2014/main" id="{B38B4571-6EEB-D898-6625-4373BBA610E0}"/>
                </a:ext>
              </a:extLst>
            </p:cNvPr>
            <p:cNvSpPr/>
            <p:nvPr/>
          </p:nvSpPr>
          <p:spPr>
            <a:xfrm>
              <a:off x="285750" y="400050"/>
              <a:ext cx="1089660" cy="1805940"/>
            </a:xfrm>
            <a:custGeom>
              <a:avLst/>
              <a:gdLst>
                <a:gd name="connsiteX0" fmla="*/ 1089660 w 1089660"/>
                <a:gd name="connsiteY0" fmla="*/ 0 h 1805940"/>
                <a:gd name="connsiteX1" fmla="*/ 0 w 1089660"/>
                <a:gd name="connsiteY1" fmla="*/ 731520 h 1805940"/>
                <a:gd name="connsiteX2" fmla="*/ 449580 w 1089660"/>
                <a:gd name="connsiteY2" fmla="*/ 1805940 h 1805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89660" h="1805940">
                  <a:moveTo>
                    <a:pt x="1089660" y="0"/>
                  </a:moveTo>
                  <a:lnTo>
                    <a:pt x="0" y="731520"/>
                  </a:lnTo>
                  <a:lnTo>
                    <a:pt x="449580" y="1805940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7" name="Freeform 6">
              <a:extLst>
                <a:ext uri="{FF2B5EF4-FFF2-40B4-BE49-F238E27FC236}">
                  <a16:creationId xmlns:a16="http://schemas.microsoft.com/office/drawing/2014/main" id="{1658BB62-DA8E-C3B4-9CEA-88B154D64A30}"/>
                </a:ext>
              </a:extLst>
            </p:cNvPr>
            <p:cNvSpPr/>
            <p:nvPr/>
          </p:nvSpPr>
          <p:spPr>
            <a:xfrm>
              <a:off x="285750" y="400050"/>
              <a:ext cx="2179320" cy="1805940"/>
            </a:xfrm>
            <a:custGeom>
              <a:avLst/>
              <a:gdLst>
                <a:gd name="connsiteX0" fmla="*/ 1089660 w 2179320"/>
                <a:gd name="connsiteY0" fmla="*/ 0 h 1805940"/>
                <a:gd name="connsiteX1" fmla="*/ 419100 w 2179320"/>
                <a:gd name="connsiteY1" fmla="*/ 1805940 h 1805940"/>
                <a:gd name="connsiteX2" fmla="*/ 2156460 w 2179320"/>
                <a:gd name="connsiteY2" fmla="*/ 678180 h 1805940"/>
                <a:gd name="connsiteX3" fmla="*/ 0 w 2179320"/>
                <a:gd name="connsiteY3" fmla="*/ 723900 h 1805940"/>
                <a:gd name="connsiteX4" fmla="*/ 1706880 w 2179320"/>
                <a:gd name="connsiteY4" fmla="*/ 1798320 h 1805940"/>
                <a:gd name="connsiteX5" fmla="*/ 2179320 w 2179320"/>
                <a:gd name="connsiteY5" fmla="*/ 678180 h 1805940"/>
                <a:gd name="connsiteX6" fmla="*/ 1089660 w 2179320"/>
                <a:gd name="connsiteY6" fmla="*/ 0 h 1805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179320" h="1805940">
                  <a:moveTo>
                    <a:pt x="1089660" y="0"/>
                  </a:moveTo>
                  <a:lnTo>
                    <a:pt x="419100" y="1805940"/>
                  </a:lnTo>
                  <a:lnTo>
                    <a:pt x="2156460" y="678180"/>
                  </a:lnTo>
                  <a:lnTo>
                    <a:pt x="0" y="723900"/>
                  </a:lnTo>
                  <a:lnTo>
                    <a:pt x="1706880" y="1798320"/>
                  </a:lnTo>
                  <a:lnTo>
                    <a:pt x="2179320" y="678180"/>
                  </a:lnTo>
                  <a:lnTo>
                    <a:pt x="1089660" y="0"/>
                  </a:lnTo>
                  <a:close/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E057AA19-5F2C-2A03-5756-9003911FB12B}"/>
                </a:ext>
              </a:extLst>
            </p:cNvPr>
            <p:cNvSpPr/>
            <p:nvPr/>
          </p:nvSpPr>
          <p:spPr>
            <a:xfrm>
              <a:off x="1304925" y="333375"/>
              <a:ext cx="137160" cy="13716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A0469E7F-8A68-BC31-1107-2DCDA6E3F179}"/>
                </a:ext>
              </a:extLst>
            </p:cNvPr>
            <p:cNvSpPr/>
            <p:nvPr/>
          </p:nvSpPr>
          <p:spPr>
            <a:xfrm>
              <a:off x="219075" y="1057275"/>
              <a:ext cx="137160" cy="13716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A4A1448C-C86F-F4C9-93D4-659F732E85AE}"/>
                </a:ext>
              </a:extLst>
            </p:cNvPr>
            <p:cNvSpPr/>
            <p:nvPr/>
          </p:nvSpPr>
          <p:spPr>
            <a:xfrm>
              <a:off x="2371725" y="1009650"/>
              <a:ext cx="137160" cy="13716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F7A1FFF7-C8D6-A45A-A5A8-070670D50E9D}"/>
                </a:ext>
              </a:extLst>
            </p:cNvPr>
            <p:cNvSpPr/>
            <p:nvPr/>
          </p:nvSpPr>
          <p:spPr>
            <a:xfrm>
              <a:off x="647700" y="2133600"/>
              <a:ext cx="137160" cy="13716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2" name="Text Box 2">
              <a:extLst>
                <a:ext uri="{FF2B5EF4-FFF2-40B4-BE49-F238E27FC236}">
                  <a16:creationId xmlns:a16="http://schemas.microsoft.com/office/drawing/2014/main" id="{D0D259E0-5C31-E8FC-945A-E8EBBA46F9B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09675" y="0"/>
              <a:ext cx="358140" cy="43624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>
              <a:spAutoFit/>
            </a:bodyPr>
            <a:lstStyle/>
            <a:p>
              <a:pPr marL="0" marR="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40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1</a:t>
              </a:r>
              <a:endParaRPr lang="en-US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43" name="Text Box 2">
              <a:extLst>
                <a:ext uri="{FF2B5EF4-FFF2-40B4-BE49-F238E27FC236}">
                  <a16:creationId xmlns:a16="http://schemas.microsoft.com/office/drawing/2014/main" id="{7ED1BD88-BE97-EBCE-DB00-0137C5E6F15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05075" y="819150"/>
              <a:ext cx="358140" cy="43624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>
              <a:spAutoFit/>
            </a:bodyPr>
            <a:lstStyle/>
            <a:p>
              <a:pPr marL="0" marR="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40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2</a:t>
              </a:r>
              <a:endParaRPr lang="en-US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44" name="Text Box 2">
              <a:extLst>
                <a:ext uri="{FF2B5EF4-FFF2-40B4-BE49-F238E27FC236}">
                  <a16:creationId xmlns:a16="http://schemas.microsoft.com/office/drawing/2014/main" id="{935C236C-C039-CC58-6BF2-9F1122DDA91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57375" y="2276475"/>
              <a:ext cx="358140" cy="43624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>
              <a:spAutoFit/>
            </a:bodyPr>
            <a:lstStyle/>
            <a:p>
              <a:pPr marL="0" marR="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40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3</a:t>
              </a:r>
              <a:endParaRPr lang="en-US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2F6D63CA-1DC7-1F99-E935-D95827F500AA}"/>
                </a:ext>
              </a:extLst>
            </p:cNvPr>
            <p:cNvSpPr/>
            <p:nvPr/>
          </p:nvSpPr>
          <p:spPr>
            <a:xfrm>
              <a:off x="1914525" y="2133600"/>
              <a:ext cx="137160" cy="13716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6" name="Text Box 2">
              <a:extLst>
                <a:ext uri="{FF2B5EF4-FFF2-40B4-BE49-F238E27FC236}">
                  <a16:creationId xmlns:a16="http://schemas.microsoft.com/office/drawing/2014/main" id="{2683D6EB-5688-F826-66B3-886220ECC8D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8625" y="2266950"/>
              <a:ext cx="358140" cy="43624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>
              <a:spAutoFit/>
            </a:bodyPr>
            <a:lstStyle/>
            <a:p>
              <a:pPr marL="0" marR="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40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4</a:t>
              </a:r>
              <a:endParaRPr lang="en-US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47" name="Text Box 2">
              <a:extLst>
                <a:ext uri="{FF2B5EF4-FFF2-40B4-BE49-F238E27FC236}">
                  <a16:creationId xmlns:a16="http://schemas.microsoft.com/office/drawing/2014/main" id="{0554A55E-968A-622A-B932-EF78C15A104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762000"/>
              <a:ext cx="358140" cy="43624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>
              <a:spAutoFit/>
            </a:bodyPr>
            <a:lstStyle/>
            <a:p>
              <a:pPr marL="0" marR="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40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5</a:t>
              </a:r>
              <a:endParaRPr lang="en-US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48" name="Text Box 2">
              <a:extLst>
                <a:ext uri="{FF2B5EF4-FFF2-40B4-BE49-F238E27FC236}">
                  <a16:creationId xmlns:a16="http://schemas.microsoft.com/office/drawing/2014/main" id="{6E2460B3-380E-FA42-3ABC-EE403AF8F0A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7700" y="514350"/>
              <a:ext cx="358140" cy="43624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>
              <a:spAutoFit/>
            </a:bodyPr>
            <a:lstStyle/>
            <a:p>
              <a:pPr marL="0" marR="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40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1</a:t>
              </a:r>
              <a:endParaRPr lang="en-US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49" name="Text Box 2">
              <a:extLst>
                <a:ext uri="{FF2B5EF4-FFF2-40B4-BE49-F238E27FC236}">
                  <a16:creationId xmlns:a16="http://schemas.microsoft.com/office/drawing/2014/main" id="{8FEAFA8A-1258-AFDE-7EAA-6EC799C0395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09750" y="466725"/>
              <a:ext cx="358140" cy="43624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>
              <a:spAutoFit/>
            </a:bodyPr>
            <a:lstStyle/>
            <a:p>
              <a:pPr marL="0" marR="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40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1</a:t>
              </a:r>
              <a:endParaRPr lang="en-US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50" name="Text Box 2">
              <a:extLst>
                <a:ext uri="{FF2B5EF4-FFF2-40B4-BE49-F238E27FC236}">
                  <a16:creationId xmlns:a16="http://schemas.microsoft.com/office/drawing/2014/main" id="{9C3050C8-99DA-FE43-5EDC-F4B71AA6FD0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19200" y="571500"/>
              <a:ext cx="358140" cy="43624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>
              <a:spAutoFit/>
            </a:bodyPr>
            <a:lstStyle/>
            <a:p>
              <a:pPr marL="0" marR="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40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1</a:t>
              </a:r>
              <a:endParaRPr lang="en-US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51" name="Text Box 2">
              <a:extLst>
                <a:ext uri="{FF2B5EF4-FFF2-40B4-BE49-F238E27FC236}">
                  <a16:creationId xmlns:a16="http://schemas.microsoft.com/office/drawing/2014/main" id="{B1FCAF3E-188C-FD31-EE6B-FF8D4239001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6700" y="1485900"/>
              <a:ext cx="358140" cy="43624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>
              <a:spAutoFit/>
            </a:bodyPr>
            <a:lstStyle/>
            <a:p>
              <a:pPr marL="0" marR="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40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1</a:t>
              </a:r>
              <a:endParaRPr lang="en-US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52" name="Text Box 2">
              <a:extLst>
                <a:ext uri="{FF2B5EF4-FFF2-40B4-BE49-F238E27FC236}">
                  <a16:creationId xmlns:a16="http://schemas.microsoft.com/office/drawing/2014/main" id="{1ECF1FFE-36A8-EB23-F9A7-D2ADB8D1AAC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7800" y="1895475"/>
              <a:ext cx="358140" cy="43624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>
              <a:spAutoFit/>
            </a:bodyPr>
            <a:lstStyle/>
            <a:p>
              <a:pPr marL="0" marR="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40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1</a:t>
              </a:r>
              <a:endParaRPr lang="en-US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53" name="Text Box 2">
              <a:extLst>
                <a:ext uri="{FF2B5EF4-FFF2-40B4-BE49-F238E27FC236}">
                  <a16:creationId xmlns:a16="http://schemas.microsoft.com/office/drawing/2014/main" id="{E50A6FC8-AB4A-30BC-DD74-12B0931E938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43050" y="838200"/>
              <a:ext cx="358140" cy="43624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>
              <a:spAutoFit/>
            </a:bodyPr>
            <a:lstStyle/>
            <a:p>
              <a:pPr marL="0" marR="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40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1</a:t>
              </a:r>
              <a:endParaRPr lang="en-US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54" name="Text Box 2">
              <a:extLst>
                <a:ext uri="{FF2B5EF4-FFF2-40B4-BE49-F238E27FC236}">
                  <a16:creationId xmlns:a16="http://schemas.microsoft.com/office/drawing/2014/main" id="{570B75F2-A053-741A-73E2-6D73A225E22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95425" y="1343025"/>
              <a:ext cx="358140" cy="43624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>
              <a:spAutoFit/>
            </a:bodyPr>
            <a:lstStyle/>
            <a:p>
              <a:pPr marL="0" marR="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40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1</a:t>
              </a:r>
              <a:endParaRPr lang="en-US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55" name="Text Box 2">
              <a:extLst>
                <a:ext uri="{FF2B5EF4-FFF2-40B4-BE49-F238E27FC236}">
                  <a16:creationId xmlns:a16="http://schemas.microsoft.com/office/drawing/2014/main" id="{16129C2D-4D89-0920-2B85-6B606F01FA5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90750" y="1543050"/>
              <a:ext cx="358140" cy="43624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>
              <a:spAutoFit/>
            </a:bodyPr>
            <a:lstStyle/>
            <a:p>
              <a:pPr marL="0" marR="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40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1</a:t>
              </a:r>
              <a:endParaRPr lang="en-US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792170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D7DDE2B3-6737-C013-61FF-E113AF2F3A1D}"/>
              </a:ext>
            </a:extLst>
          </p:cNvPr>
          <p:cNvSpPr/>
          <p:nvPr/>
        </p:nvSpPr>
        <p:spPr>
          <a:xfrm>
            <a:off x="1979612" y="3911597"/>
            <a:ext cx="1676400" cy="58420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6A2D719-5DA5-5667-15D3-6CB11CB39849}"/>
              </a:ext>
            </a:extLst>
          </p:cNvPr>
          <p:cNvSpPr/>
          <p:nvPr/>
        </p:nvSpPr>
        <p:spPr>
          <a:xfrm>
            <a:off x="3427412" y="3136898"/>
            <a:ext cx="1903729" cy="58420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/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C000"/>
                </a:solidFill>
              </a:rPr>
              <a:t>Class NP-hard</a:t>
            </a:r>
            <a:endParaRPr lang="en-US" b="1" baseline="-25000" dirty="0">
              <a:solidFill>
                <a:srgbClr val="FFC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C045D6-7A9F-2D84-1435-30475B84C5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8883" y="1701797"/>
            <a:ext cx="10742929" cy="4462272"/>
          </a:xfrm>
        </p:spPr>
        <p:txBody>
          <a:bodyPr>
            <a:normAutofit/>
          </a:bodyPr>
          <a:lstStyle/>
          <a:p>
            <a:pPr marL="0" indent="0">
              <a:buNone/>
              <a:tabLst>
                <a:tab pos="3657600" algn="l"/>
                <a:tab pos="7315200" algn="l"/>
              </a:tabLst>
            </a:pPr>
            <a:r>
              <a:rPr lang="en-US" dirty="0"/>
              <a:t>A problem  </a:t>
            </a:r>
            <a:r>
              <a:rPr lang="en-US" dirty="0">
                <a:sym typeface="Symbol" panose="05050102010706020507" pitchFamily="18" charset="2"/>
              </a:rPr>
              <a:t></a:t>
            </a:r>
            <a:r>
              <a:rPr lang="en-US" dirty="0"/>
              <a:t>  is  in the class </a:t>
            </a:r>
            <a:r>
              <a:rPr lang="en-US" b="1" dirty="0">
                <a:solidFill>
                  <a:srgbClr val="FFC000"/>
                </a:solidFill>
              </a:rPr>
              <a:t>NP-hard</a:t>
            </a:r>
            <a:r>
              <a:rPr lang="en-US" dirty="0"/>
              <a:t> if there is a polynomial-time reduction from </a:t>
            </a:r>
            <a:r>
              <a:rPr lang="en-US" b="1" u="sng" dirty="0"/>
              <a:t>every</a:t>
            </a:r>
            <a:r>
              <a:rPr lang="en-US" dirty="0"/>
              <a:t> problem in the class NP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7A2B4FA-5AD3-F5CC-039C-DD779ABD96B2}"/>
              </a:ext>
            </a:extLst>
          </p:cNvPr>
          <p:cNvSpPr/>
          <p:nvPr/>
        </p:nvSpPr>
        <p:spPr>
          <a:xfrm>
            <a:off x="2451651" y="5627002"/>
            <a:ext cx="2138327" cy="58420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C8458D3-AF6D-8457-826F-9358321864EA}"/>
              </a:ext>
            </a:extLst>
          </p:cNvPr>
          <p:cNvSpPr/>
          <p:nvPr/>
        </p:nvSpPr>
        <p:spPr>
          <a:xfrm>
            <a:off x="4265612" y="4724400"/>
            <a:ext cx="1676400" cy="58420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376C9239-7B04-4CC3-ED77-564F110E5B4D}"/>
              </a:ext>
            </a:extLst>
          </p:cNvPr>
          <p:cNvSpPr/>
          <p:nvPr/>
        </p:nvSpPr>
        <p:spPr>
          <a:xfrm>
            <a:off x="989012" y="2743200"/>
            <a:ext cx="5602092" cy="38401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BBD1CF5-7509-8350-7C07-20F72B89DA3C}"/>
              </a:ext>
            </a:extLst>
          </p:cNvPr>
          <p:cNvSpPr txBox="1"/>
          <p:nvPr/>
        </p:nvSpPr>
        <p:spPr>
          <a:xfrm>
            <a:off x="4041992" y="3155482"/>
            <a:ext cx="59984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HC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399EBF1-CF0B-8764-45D0-26972C216977}"/>
              </a:ext>
            </a:extLst>
          </p:cNvPr>
          <p:cNvSpPr txBox="1"/>
          <p:nvPr/>
        </p:nvSpPr>
        <p:spPr>
          <a:xfrm>
            <a:off x="2517890" y="3911597"/>
            <a:ext cx="7087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TSP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7FE9362-D5C0-242D-1E27-6396872A1B7A}"/>
              </a:ext>
            </a:extLst>
          </p:cNvPr>
          <p:cNvSpPr txBox="1"/>
          <p:nvPr/>
        </p:nvSpPr>
        <p:spPr>
          <a:xfrm>
            <a:off x="4333088" y="4754891"/>
            <a:ext cx="154144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Knapsack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AAB33E1-EAD7-C0D8-A14E-1A51452B4D28}"/>
              </a:ext>
            </a:extLst>
          </p:cNvPr>
          <p:cNvSpPr txBox="1"/>
          <p:nvPr/>
        </p:nvSpPr>
        <p:spPr>
          <a:xfrm>
            <a:off x="2520251" y="5633576"/>
            <a:ext cx="200112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Coin Change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E8F1C1A-C828-DC35-3D4F-6898A7CBC204}"/>
              </a:ext>
            </a:extLst>
          </p:cNvPr>
          <p:cNvSpPr/>
          <p:nvPr/>
        </p:nvSpPr>
        <p:spPr>
          <a:xfrm>
            <a:off x="8532812" y="4297307"/>
            <a:ext cx="1981200" cy="508003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DF51FF4-DCBD-3347-3A09-0C6E8112406C}"/>
              </a:ext>
            </a:extLst>
          </p:cNvPr>
          <p:cNvSpPr txBox="1"/>
          <p:nvPr/>
        </p:nvSpPr>
        <p:spPr>
          <a:xfrm>
            <a:off x="9278726" y="4277380"/>
            <a:ext cx="46038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ym typeface="Symbol" panose="05050102010706020507" pitchFamily="18" charset="2"/>
              </a:rPr>
              <a:t></a:t>
            </a:r>
            <a:endParaRPr lang="en-US" sz="2800" dirty="0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0CCFE8A8-A383-0F9A-7F2D-C683116144D4}"/>
              </a:ext>
            </a:extLst>
          </p:cNvPr>
          <p:cNvCxnSpPr>
            <a:stCxn id="15" idx="3"/>
          </p:cNvCxnSpPr>
          <p:nvPr/>
        </p:nvCxnSpPr>
        <p:spPr>
          <a:xfrm>
            <a:off x="5331141" y="3429000"/>
            <a:ext cx="2896871" cy="868307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4B1BEDD-597F-BEEF-AD71-54D2DE606A6F}"/>
              </a:ext>
            </a:extLst>
          </p:cNvPr>
          <p:cNvCxnSpPr>
            <a:cxnSpLocks/>
            <a:stCxn id="16" idx="3"/>
          </p:cNvCxnSpPr>
          <p:nvPr/>
        </p:nvCxnSpPr>
        <p:spPr>
          <a:xfrm>
            <a:off x="3656012" y="4203699"/>
            <a:ext cx="4682338" cy="296805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2E486EF4-C12C-0F30-A6F5-F800F9FF8DAE}"/>
              </a:ext>
            </a:extLst>
          </p:cNvPr>
          <p:cNvCxnSpPr>
            <a:cxnSpLocks/>
          </p:cNvCxnSpPr>
          <p:nvPr/>
        </p:nvCxnSpPr>
        <p:spPr>
          <a:xfrm flipV="1">
            <a:off x="5994451" y="4638492"/>
            <a:ext cx="2463552" cy="385391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DB487620-CB45-E53C-8A61-3F9C66DA9869}"/>
              </a:ext>
            </a:extLst>
          </p:cNvPr>
          <p:cNvCxnSpPr>
            <a:cxnSpLocks/>
            <a:stCxn id="2" idx="3"/>
          </p:cNvCxnSpPr>
          <p:nvPr/>
        </p:nvCxnSpPr>
        <p:spPr>
          <a:xfrm flipV="1">
            <a:off x="4589978" y="4820686"/>
            <a:ext cx="3923462" cy="1098418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CD42520C-FACB-563D-B45C-6E8682CB323D}"/>
              </a:ext>
            </a:extLst>
          </p:cNvPr>
          <p:cNvSpPr/>
          <p:nvPr/>
        </p:nvSpPr>
        <p:spPr>
          <a:xfrm>
            <a:off x="1293812" y="4724400"/>
            <a:ext cx="1676400" cy="58420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9D31321-E04A-DE55-C9DE-B0C3B7E33F4A}"/>
              </a:ext>
            </a:extLst>
          </p:cNvPr>
          <p:cNvSpPr txBox="1"/>
          <p:nvPr/>
        </p:nvSpPr>
        <p:spPr>
          <a:xfrm>
            <a:off x="1744467" y="4741502"/>
            <a:ext cx="89742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err="1"/>
              <a:t>etc</a:t>
            </a:r>
            <a:r>
              <a:rPr lang="en-US" sz="2800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9211862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D7DDE2B3-6737-C013-61FF-E113AF2F3A1D}"/>
              </a:ext>
            </a:extLst>
          </p:cNvPr>
          <p:cNvSpPr/>
          <p:nvPr/>
        </p:nvSpPr>
        <p:spPr>
          <a:xfrm>
            <a:off x="1979612" y="3911597"/>
            <a:ext cx="1676400" cy="58420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6A2D719-5DA5-5667-15D3-6CB11CB39849}"/>
              </a:ext>
            </a:extLst>
          </p:cNvPr>
          <p:cNvSpPr/>
          <p:nvPr/>
        </p:nvSpPr>
        <p:spPr>
          <a:xfrm>
            <a:off x="2385834" y="3136898"/>
            <a:ext cx="2945307" cy="58420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/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C000"/>
                </a:solidFill>
              </a:rPr>
              <a:t>Class NP-hard</a:t>
            </a:r>
            <a:endParaRPr lang="en-US" b="1" baseline="-25000" dirty="0">
              <a:solidFill>
                <a:srgbClr val="FFC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C045D6-7A9F-2D84-1435-30475B84C5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8883" y="1701797"/>
            <a:ext cx="10742929" cy="4462272"/>
          </a:xfrm>
        </p:spPr>
        <p:txBody>
          <a:bodyPr>
            <a:normAutofit/>
          </a:bodyPr>
          <a:lstStyle/>
          <a:p>
            <a:pPr marL="0" indent="0">
              <a:buNone/>
              <a:tabLst>
                <a:tab pos="3657600" algn="l"/>
                <a:tab pos="7315200" algn="l"/>
              </a:tabLst>
            </a:pPr>
            <a:r>
              <a:rPr lang="en-US" dirty="0"/>
              <a:t>Problems like HC and TSP are in  </a:t>
            </a:r>
            <a:r>
              <a:rPr lang="en-US" b="1" dirty="0">
                <a:solidFill>
                  <a:srgbClr val="FFC000"/>
                </a:solidFill>
              </a:rPr>
              <a:t>NP</a:t>
            </a:r>
            <a:r>
              <a:rPr lang="en-US" dirty="0"/>
              <a:t>  </a:t>
            </a:r>
            <a:r>
              <a:rPr lang="en-US" u="sng" dirty="0"/>
              <a:t>and</a:t>
            </a:r>
            <a:r>
              <a:rPr lang="en-US" dirty="0"/>
              <a:t> are in the class </a:t>
            </a:r>
            <a:r>
              <a:rPr lang="en-US" b="1" dirty="0">
                <a:solidFill>
                  <a:srgbClr val="FFC000"/>
                </a:solidFill>
              </a:rPr>
              <a:t>NP-hard.</a:t>
            </a:r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7A2B4FA-5AD3-F5CC-039C-DD779ABD96B2}"/>
              </a:ext>
            </a:extLst>
          </p:cNvPr>
          <p:cNvSpPr/>
          <p:nvPr/>
        </p:nvSpPr>
        <p:spPr>
          <a:xfrm>
            <a:off x="2451651" y="5627002"/>
            <a:ext cx="2138327" cy="58420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C8458D3-AF6D-8457-826F-9358321864EA}"/>
              </a:ext>
            </a:extLst>
          </p:cNvPr>
          <p:cNvSpPr/>
          <p:nvPr/>
        </p:nvSpPr>
        <p:spPr>
          <a:xfrm>
            <a:off x="4265612" y="4724400"/>
            <a:ext cx="1676400" cy="58420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376C9239-7B04-4CC3-ED77-564F110E5B4D}"/>
              </a:ext>
            </a:extLst>
          </p:cNvPr>
          <p:cNvSpPr/>
          <p:nvPr/>
        </p:nvSpPr>
        <p:spPr>
          <a:xfrm>
            <a:off x="989012" y="2743200"/>
            <a:ext cx="5602092" cy="38401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BBD1CF5-7509-8350-7C07-20F72B89DA3C}"/>
              </a:ext>
            </a:extLst>
          </p:cNvPr>
          <p:cNvSpPr txBox="1"/>
          <p:nvPr/>
        </p:nvSpPr>
        <p:spPr>
          <a:xfrm>
            <a:off x="2663520" y="3157964"/>
            <a:ext cx="255268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Any NP problem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399EBF1-CF0B-8764-45D0-26972C216977}"/>
              </a:ext>
            </a:extLst>
          </p:cNvPr>
          <p:cNvSpPr txBox="1"/>
          <p:nvPr/>
        </p:nvSpPr>
        <p:spPr>
          <a:xfrm>
            <a:off x="2517890" y="3911597"/>
            <a:ext cx="7087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TSP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7FE9362-D5C0-242D-1E27-6396872A1B7A}"/>
              </a:ext>
            </a:extLst>
          </p:cNvPr>
          <p:cNvSpPr txBox="1"/>
          <p:nvPr/>
        </p:nvSpPr>
        <p:spPr>
          <a:xfrm>
            <a:off x="4333088" y="4754891"/>
            <a:ext cx="154144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Knapsack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AAB33E1-EAD7-C0D8-A14E-1A51452B4D28}"/>
              </a:ext>
            </a:extLst>
          </p:cNvPr>
          <p:cNvSpPr txBox="1"/>
          <p:nvPr/>
        </p:nvSpPr>
        <p:spPr>
          <a:xfrm>
            <a:off x="2520251" y="5633576"/>
            <a:ext cx="200112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Coin Change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E8F1C1A-C828-DC35-3D4F-6898A7CBC204}"/>
              </a:ext>
            </a:extLst>
          </p:cNvPr>
          <p:cNvSpPr/>
          <p:nvPr/>
        </p:nvSpPr>
        <p:spPr>
          <a:xfrm>
            <a:off x="8532812" y="4297307"/>
            <a:ext cx="1981200" cy="508003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DF51FF4-DCBD-3347-3A09-0C6E8112406C}"/>
              </a:ext>
            </a:extLst>
          </p:cNvPr>
          <p:cNvSpPr txBox="1"/>
          <p:nvPr/>
        </p:nvSpPr>
        <p:spPr>
          <a:xfrm>
            <a:off x="9278726" y="4277380"/>
            <a:ext cx="59984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ym typeface="Symbol" panose="05050102010706020507" pitchFamily="18" charset="2"/>
              </a:rPr>
              <a:t>HC</a:t>
            </a:r>
            <a:endParaRPr lang="en-US" sz="2800" dirty="0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0CCFE8A8-A383-0F9A-7F2D-C683116144D4}"/>
              </a:ext>
            </a:extLst>
          </p:cNvPr>
          <p:cNvCxnSpPr>
            <a:cxnSpLocks/>
            <a:stCxn id="15" idx="3"/>
          </p:cNvCxnSpPr>
          <p:nvPr/>
        </p:nvCxnSpPr>
        <p:spPr>
          <a:xfrm>
            <a:off x="5331141" y="3429000"/>
            <a:ext cx="2896871" cy="868307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4B1BEDD-597F-BEEF-AD71-54D2DE606A6F}"/>
              </a:ext>
            </a:extLst>
          </p:cNvPr>
          <p:cNvCxnSpPr>
            <a:cxnSpLocks/>
            <a:stCxn id="16" idx="3"/>
          </p:cNvCxnSpPr>
          <p:nvPr/>
        </p:nvCxnSpPr>
        <p:spPr>
          <a:xfrm>
            <a:off x="3656012" y="4203699"/>
            <a:ext cx="4682338" cy="296805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2E486EF4-C12C-0F30-A6F5-F800F9FF8DAE}"/>
              </a:ext>
            </a:extLst>
          </p:cNvPr>
          <p:cNvCxnSpPr>
            <a:cxnSpLocks/>
          </p:cNvCxnSpPr>
          <p:nvPr/>
        </p:nvCxnSpPr>
        <p:spPr>
          <a:xfrm flipV="1">
            <a:off x="5994451" y="4638492"/>
            <a:ext cx="2463552" cy="385391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DB487620-CB45-E53C-8A61-3F9C66DA9869}"/>
              </a:ext>
            </a:extLst>
          </p:cNvPr>
          <p:cNvCxnSpPr>
            <a:cxnSpLocks/>
            <a:stCxn id="2" idx="3"/>
          </p:cNvCxnSpPr>
          <p:nvPr/>
        </p:nvCxnSpPr>
        <p:spPr>
          <a:xfrm flipV="1">
            <a:off x="4589978" y="4820686"/>
            <a:ext cx="3923462" cy="1098418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CD42520C-FACB-563D-B45C-6E8682CB323D}"/>
              </a:ext>
            </a:extLst>
          </p:cNvPr>
          <p:cNvSpPr/>
          <p:nvPr/>
        </p:nvSpPr>
        <p:spPr>
          <a:xfrm>
            <a:off x="1293812" y="4724400"/>
            <a:ext cx="1676400" cy="58420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9D31321-E04A-DE55-C9DE-B0C3B7E33F4A}"/>
              </a:ext>
            </a:extLst>
          </p:cNvPr>
          <p:cNvSpPr txBox="1"/>
          <p:nvPr/>
        </p:nvSpPr>
        <p:spPr>
          <a:xfrm>
            <a:off x="1744467" y="4741502"/>
            <a:ext cx="89742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err="1"/>
              <a:t>etc</a:t>
            </a:r>
            <a:r>
              <a:rPr lang="en-US" sz="2800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35534974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C000"/>
                </a:solidFill>
              </a:rPr>
              <a:t>Class NP-complete</a:t>
            </a:r>
            <a:endParaRPr lang="en-US" b="1" baseline="-25000" dirty="0">
              <a:solidFill>
                <a:srgbClr val="FFC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C045D6-7A9F-2D84-1435-30475B84C5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8883" y="1701797"/>
            <a:ext cx="10742929" cy="4462272"/>
          </a:xfrm>
        </p:spPr>
        <p:txBody>
          <a:bodyPr>
            <a:normAutofit/>
          </a:bodyPr>
          <a:lstStyle/>
          <a:p>
            <a:pPr marL="0" indent="0">
              <a:buNone/>
              <a:tabLst>
                <a:tab pos="3657600" algn="l"/>
                <a:tab pos="7315200" algn="l"/>
              </a:tabLst>
            </a:pPr>
            <a:r>
              <a:rPr lang="en-US" dirty="0"/>
              <a:t>A problem  </a:t>
            </a:r>
            <a:r>
              <a:rPr lang="en-US" dirty="0">
                <a:sym typeface="Symbol" panose="05050102010706020507" pitchFamily="18" charset="2"/>
              </a:rPr>
              <a:t></a:t>
            </a:r>
            <a:r>
              <a:rPr lang="en-US" dirty="0"/>
              <a:t>  is  in the class </a:t>
            </a:r>
            <a:r>
              <a:rPr lang="en-US" b="1" dirty="0">
                <a:solidFill>
                  <a:srgbClr val="FFC000"/>
                </a:solidFill>
              </a:rPr>
              <a:t>NP-complete</a:t>
            </a:r>
            <a:r>
              <a:rPr lang="en-US" dirty="0"/>
              <a:t> if it is</a:t>
            </a:r>
          </a:p>
          <a:p>
            <a:pPr>
              <a:tabLst>
                <a:tab pos="3657600" algn="l"/>
                <a:tab pos="7315200" algn="l"/>
              </a:tabLst>
            </a:pPr>
            <a:r>
              <a:rPr lang="en-US" dirty="0"/>
              <a:t>in the class NP  and</a:t>
            </a:r>
          </a:p>
          <a:p>
            <a:pPr>
              <a:tabLst>
                <a:tab pos="3657600" algn="l"/>
                <a:tab pos="7315200" algn="l"/>
              </a:tabLst>
            </a:pPr>
            <a:r>
              <a:rPr lang="en-US" dirty="0"/>
              <a:t>in the class NP-hard</a:t>
            </a:r>
          </a:p>
          <a:p>
            <a:pPr>
              <a:tabLst>
                <a:tab pos="3657600" algn="l"/>
                <a:tab pos="7315200" algn="l"/>
              </a:tabLst>
            </a:pPr>
            <a:endParaRPr lang="en-US" dirty="0"/>
          </a:p>
          <a:p>
            <a:pPr marL="0" indent="0">
              <a:buNone/>
              <a:tabLst>
                <a:tab pos="3657600" algn="l"/>
                <a:tab pos="7315200" algn="l"/>
              </a:tabLst>
            </a:pPr>
            <a:r>
              <a:rPr lang="en-US" dirty="0"/>
              <a:t>The problems HC and TSP are NP-complete.</a:t>
            </a:r>
          </a:p>
        </p:txBody>
      </p:sp>
    </p:spTree>
    <p:extLst>
      <p:ext uri="{BB962C8B-B14F-4D97-AF65-F5344CB8AC3E}">
        <p14:creationId xmlns:p14="http://schemas.microsoft.com/office/powerpoint/2010/main" val="31206368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C000"/>
                </a:solidFill>
              </a:rPr>
              <a:t>Class NP-complete</a:t>
            </a:r>
            <a:endParaRPr lang="en-US" b="1" baseline="-25000" dirty="0">
              <a:solidFill>
                <a:srgbClr val="FFC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C045D6-7A9F-2D84-1435-30475B84C5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8883" y="1701797"/>
            <a:ext cx="10742929" cy="4462272"/>
          </a:xfrm>
        </p:spPr>
        <p:txBody>
          <a:bodyPr>
            <a:normAutofit/>
          </a:bodyPr>
          <a:lstStyle/>
          <a:p>
            <a:pPr marL="0" indent="0">
              <a:buNone/>
              <a:tabLst>
                <a:tab pos="3657600" algn="l"/>
                <a:tab pos="7315200" algn="l"/>
              </a:tabLst>
            </a:pPr>
            <a:r>
              <a:rPr lang="en-US" dirty="0"/>
              <a:t>Suppose  P</a:t>
            </a:r>
            <a:r>
              <a:rPr lang="en-US" baseline="-25000" dirty="0"/>
              <a:t>1</a:t>
            </a:r>
            <a:r>
              <a:rPr lang="en-US" dirty="0"/>
              <a:t>  is an </a:t>
            </a:r>
            <a:r>
              <a:rPr lang="en-US" b="1" dirty="0">
                <a:solidFill>
                  <a:srgbClr val="FFC000"/>
                </a:solidFill>
              </a:rPr>
              <a:t>NP-hard</a:t>
            </a:r>
            <a:r>
              <a:rPr lang="en-US" dirty="0"/>
              <a:t> problem and  P</a:t>
            </a:r>
            <a:r>
              <a:rPr lang="en-US" baseline="-25000" dirty="0"/>
              <a:t>2</a:t>
            </a:r>
            <a:r>
              <a:rPr lang="en-US" dirty="0"/>
              <a:t>  is another problem. If there is a polynomial-time reduction from  P</a:t>
            </a:r>
            <a:r>
              <a:rPr lang="en-US" baseline="-25000" dirty="0"/>
              <a:t>1</a:t>
            </a:r>
            <a:r>
              <a:rPr lang="en-US" dirty="0"/>
              <a:t>  to  P</a:t>
            </a:r>
            <a:r>
              <a:rPr lang="en-US" baseline="-25000" dirty="0"/>
              <a:t>2</a:t>
            </a:r>
            <a:r>
              <a:rPr lang="en-US" dirty="0"/>
              <a:t>, then  P</a:t>
            </a:r>
            <a:r>
              <a:rPr lang="en-US" baseline="-25000" dirty="0"/>
              <a:t>2</a:t>
            </a:r>
            <a:r>
              <a:rPr lang="en-US" dirty="0"/>
              <a:t>  is </a:t>
            </a:r>
            <a:r>
              <a:rPr lang="en-US" b="1" dirty="0">
                <a:solidFill>
                  <a:srgbClr val="FFC000"/>
                </a:solidFill>
              </a:rPr>
              <a:t>NP-hard.</a:t>
            </a:r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7DDE2B3-6737-C013-61FF-E113AF2F3A1D}"/>
              </a:ext>
            </a:extLst>
          </p:cNvPr>
          <p:cNvSpPr/>
          <p:nvPr/>
        </p:nvSpPr>
        <p:spPr>
          <a:xfrm>
            <a:off x="1765642" y="3670577"/>
            <a:ext cx="1314298" cy="46369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b="1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6A2D719-5DA5-5667-15D3-6CB11CB39849}"/>
              </a:ext>
            </a:extLst>
          </p:cNvPr>
          <p:cNvSpPr/>
          <p:nvPr/>
        </p:nvSpPr>
        <p:spPr>
          <a:xfrm>
            <a:off x="2084120" y="3055686"/>
            <a:ext cx="2309121" cy="46369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b="1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7A2B4FA-5AD3-F5CC-039C-DD779ABD96B2}"/>
              </a:ext>
            </a:extLst>
          </p:cNvPr>
          <p:cNvSpPr/>
          <p:nvPr/>
        </p:nvSpPr>
        <p:spPr>
          <a:xfrm>
            <a:off x="2135721" y="5032122"/>
            <a:ext cx="1676448" cy="46369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b="1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C8458D3-AF6D-8457-826F-9358321864EA}"/>
              </a:ext>
            </a:extLst>
          </p:cNvPr>
          <p:cNvSpPr/>
          <p:nvPr/>
        </p:nvSpPr>
        <p:spPr>
          <a:xfrm>
            <a:off x="3557866" y="4315712"/>
            <a:ext cx="1314298" cy="46369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b="1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376C9239-7B04-4CC3-ED77-564F110E5B4D}"/>
              </a:ext>
            </a:extLst>
          </p:cNvPr>
          <p:cNvSpPr/>
          <p:nvPr/>
        </p:nvSpPr>
        <p:spPr>
          <a:xfrm>
            <a:off x="989012" y="2743201"/>
            <a:ext cx="4392040" cy="3048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b="1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BBD1CF5-7509-8350-7C07-20F72B89DA3C}"/>
              </a:ext>
            </a:extLst>
          </p:cNvPr>
          <p:cNvSpPr txBox="1"/>
          <p:nvPr/>
        </p:nvSpPr>
        <p:spPr>
          <a:xfrm>
            <a:off x="2301826" y="3072406"/>
            <a:ext cx="20013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/>
              <a:t>Any NP problem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399EBF1-CF0B-8764-45D0-26972C216977}"/>
              </a:ext>
            </a:extLst>
          </p:cNvPr>
          <p:cNvSpPr txBox="1"/>
          <p:nvPr/>
        </p:nvSpPr>
        <p:spPr>
          <a:xfrm>
            <a:off x="2187652" y="3670577"/>
            <a:ext cx="55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/>
              <a:t>TSP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7FE9362-D5C0-242D-1E27-6396872A1B7A}"/>
              </a:ext>
            </a:extLst>
          </p:cNvPr>
          <p:cNvSpPr txBox="1"/>
          <p:nvPr/>
        </p:nvSpPr>
        <p:spPr>
          <a:xfrm>
            <a:off x="3610768" y="4339913"/>
            <a:ext cx="12084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/>
              <a:t>Knapsack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AAB33E1-EAD7-C0D8-A14E-1A51452B4D28}"/>
              </a:ext>
            </a:extLst>
          </p:cNvPr>
          <p:cNvSpPr txBox="1"/>
          <p:nvPr/>
        </p:nvSpPr>
        <p:spPr>
          <a:xfrm>
            <a:off x="2189503" y="5037340"/>
            <a:ext cx="15688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/>
              <a:t>Coin Change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E8F1C1A-C828-DC35-3D4F-6898A7CBC204}"/>
              </a:ext>
            </a:extLst>
          </p:cNvPr>
          <p:cNvSpPr/>
          <p:nvPr/>
        </p:nvSpPr>
        <p:spPr>
          <a:xfrm>
            <a:off x="6903351" y="3976721"/>
            <a:ext cx="1553261" cy="40321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b="1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DF51FF4-DCBD-3347-3A09-0C6E8112406C}"/>
              </a:ext>
            </a:extLst>
          </p:cNvPr>
          <p:cNvSpPr txBox="1"/>
          <p:nvPr/>
        </p:nvSpPr>
        <p:spPr>
          <a:xfrm>
            <a:off x="7488148" y="3960905"/>
            <a:ext cx="4702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sym typeface="Symbol" panose="05050102010706020507" pitchFamily="18" charset="2"/>
              </a:rPr>
              <a:t>P</a:t>
            </a:r>
            <a:r>
              <a:rPr lang="en-US" sz="1800" b="1" baseline="-25000" dirty="0">
                <a:sym typeface="Symbol" panose="05050102010706020507" pitchFamily="18" charset="2"/>
              </a:rPr>
              <a:t>1</a:t>
            </a:r>
            <a:endParaRPr lang="en-US" sz="1800" b="1" baseline="-25000" dirty="0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0CCFE8A8-A383-0F9A-7F2D-C683116144D4}"/>
              </a:ext>
            </a:extLst>
          </p:cNvPr>
          <p:cNvCxnSpPr>
            <a:cxnSpLocks/>
            <a:stCxn id="15" idx="3"/>
          </p:cNvCxnSpPr>
          <p:nvPr/>
        </p:nvCxnSpPr>
        <p:spPr>
          <a:xfrm>
            <a:off x="4393241" y="3287532"/>
            <a:ext cx="2271147" cy="689189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4B1BEDD-597F-BEEF-AD71-54D2DE606A6F}"/>
              </a:ext>
            </a:extLst>
          </p:cNvPr>
          <p:cNvCxnSpPr>
            <a:cxnSpLocks/>
            <a:stCxn id="16" idx="3"/>
          </p:cNvCxnSpPr>
          <p:nvPr/>
        </p:nvCxnSpPr>
        <p:spPr>
          <a:xfrm>
            <a:off x="3079940" y="3902423"/>
            <a:ext cx="3670953" cy="235579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2E486EF4-C12C-0F30-A6F5-F800F9FF8DAE}"/>
              </a:ext>
            </a:extLst>
          </p:cNvPr>
          <p:cNvCxnSpPr>
            <a:cxnSpLocks/>
          </p:cNvCxnSpPr>
          <p:nvPr/>
        </p:nvCxnSpPr>
        <p:spPr>
          <a:xfrm flipV="1">
            <a:off x="4913276" y="4247525"/>
            <a:ext cx="1931425" cy="305891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DB487620-CB45-E53C-8A61-3F9C66DA9869}"/>
              </a:ext>
            </a:extLst>
          </p:cNvPr>
          <p:cNvCxnSpPr>
            <a:cxnSpLocks/>
            <a:stCxn id="2" idx="3"/>
          </p:cNvCxnSpPr>
          <p:nvPr/>
        </p:nvCxnSpPr>
        <p:spPr>
          <a:xfrm flipV="1">
            <a:off x="3812169" y="4392136"/>
            <a:ext cx="3075994" cy="871832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CD42520C-FACB-563D-B45C-6E8682CB323D}"/>
              </a:ext>
            </a:extLst>
          </p:cNvPr>
          <p:cNvSpPr/>
          <p:nvPr/>
        </p:nvSpPr>
        <p:spPr>
          <a:xfrm>
            <a:off x="1227975" y="4315712"/>
            <a:ext cx="1314298" cy="46369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b="1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9D31321-E04A-DE55-C9DE-B0C3B7E33F4A}"/>
              </a:ext>
            </a:extLst>
          </p:cNvPr>
          <p:cNvSpPr txBox="1"/>
          <p:nvPr/>
        </p:nvSpPr>
        <p:spPr>
          <a:xfrm>
            <a:off x="1581289" y="4329286"/>
            <a:ext cx="7035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 err="1"/>
              <a:t>etc</a:t>
            </a:r>
            <a:r>
              <a:rPr lang="en-US" sz="1800" b="1" dirty="0"/>
              <a:t>…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31480746-714F-7223-36F4-C2D5FD2A31D9}"/>
              </a:ext>
            </a:extLst>
          </p:cNvPr>
          <p:cNvCxnSpPr>
            <a:cxnSpLocks/>
          </p:cNvCxnSpPr>
          <p:nvPr/>
        </p:nvCxnSpPr>
        <p:spPr>
          <a:xfrm>
            <a:off x="8478800" y="4173157"/>
            <a:ext cx="1522373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DC80085A-606E-5BCB-FD09-966A51ECC36E}"/>
              </a:ext>
            </a:extLst>
          </p:cNvPr>
          <p:cNvSpPr/>
          <p:nvPr/>
        </p:nvSpPr>
        <p:spPr>
          <a:xfrm>
            <a:off x="10139717" y="3971552"/>
            <a:ext cx="1553261" cy="403210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b="1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32A4C0C-E146-E8EA-760A-D54F551A5055}"/>
              </a:ext>
            </a:extLst>
          </p:cNvPr>
          <p:cNvSpPr txBox="1"/>
          <p:nvPr/>
        </p:nvSpPr>
        <p:spPr>
          <a:xfrm>
            <a:off x="10724514" y="3955736"/>
            <a:ext cx="4702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sym typeface="Symbol" panose="05050102010706020507" pitchFamily="18" charset="2"/>
              </a:rPr>
              <a:t>P</a:t>
            </a:r>
            <a:r>
              <a:rPr lang="en-US" sz="1800" b="1" baseline="-25000" dirty="0">
                <a:sym typeface="Symbol" panose="05050102010706020507" pitchFamily="18" charset="2"/>
              </a:rPr>
              <a:t>2</a:t>
            </a:r>
            <a:endParaRPr lang="en-US" sz="1800" b="1" baseline="-25000" dirty="0"/>
          </a:p>
        </p:txBody>
      </p:sp>
    </p:spTree>
    <p:extLst>
      <p:ext uri="{BB962C8B-B14F-4D97-AF65-F5344CB8AC3E}">
        <p14:creationId xmlns:p14="http://schemas.microsoft.com/office/powerpoint/2010/main" val="15462100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C000"/>
                </a:solidFill>
              </a:rPr>
              <a:t>Class NP-complete</a:t>
            </a:r>
            <a:endParaRPr lang="en-US" b="1" baseline="-25000" dirty="0">
              <a:solidFill>
                <a:srgbClr val="FFC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C045D6-7A9F-2D84-1435-30475B84C5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8883" y="1701797"/>
            <a:ext cx="10742929" cy="4462272"/>
          </a:xfrm>
        </p:spPr>
        <p:txBody>
          <a:bodyPr>
            <a:normAutofit/>
          </a:bodyPr>
          <a:lstStyle/>
          <a:p>
            <a:pPr marL="0" indent="0">
              <a:buNone/>
              <a:tabLst>
                <a:tab pos="3657600" algn="l"/>
                <a:tab pos="7315200" algn="l"/>
              </a:tabLst>
            </a:pPr>
            <a:r>
              <a:rPr lang="en-US" dirty="0"/>
              <a:t>To prove a problem is </a:t>
            </a:r>
            <a:r>
              <a:rPr lang="en-US" b="1" dirty="0">
                <a:solidFill>
                  <a:srgbClr val="FFC000"/>
                </a:solidFill>
              </a:rPr>
              <a:t>NP-complete</a:t>
            </a:r>
            <a:endParaRPr lang="en-US" dirty="0"/>
          </a:p>
          <a:p>
            <a:pPr>
              <a:tabLst>
                <a:tab pos="3657600" algn="l"/>
                <a:tab pos="7315200" algn="l"/>
              </a:tabLst>
            </a:pPr>
            <a:r>
              <a:rPr lang="en-US" dirty="0"/>
              <a:t>Show it is in the class NP  (polynomial verifiability algorithm)</a:t>
            </a:r>
          </a:p>
          <a:p>
            <a:pPr>
              <a:tabLst>
                <a:tab pos="3657600" algn="l"/>
                <a:tab pos="7315200" algn="l"/>
              </a:tabLst>
            </a:pPr>
            <a:r>
              <a:rPr lang="en-US" dirty="0"/>
              <a:t>Find/prove a polynomial-time reduction from a </a:t>
            </a:r>
            <a:r>
              <a:rPr lang="en-US" u="sng" dirty="0"/>
              <a:t>known</a:t>
            </a:r>
            <a:r>
              <a:rPr lang="en-US" dirty="0"/>
              <a:t> NP-hard problem</a:t>
            </a:r>
          </a:p>
          <a:p>
            <a:pPr marL="0" indent="0">
              <a:buNone/>
              <a:tabLst>
                <a:tab pos="3657600" algn="l"/>
                <a:tab pos="7315200" algn="l"/>
              </a:tabLst>
            </a:pPr>
            <a:endParaRPr lang="en-US" dirty="0"/>
          </a:p>
          <a:p>
            <a:pPr marL="0" indent="0">
              <a:lnSpc>
                <a:spcPct val="100000"/>
              </a:lnSpc>
              <a:buNone/>
              <a:tabLst>
                <a:tab pos="3657600" algn="l"/>
                <a:tab pos="7315200" algn="l"/>
              </a:tabLst>
            </a:pPr>
            <a:r>
              <a:rPr lang="en-US" dirty="0"/>
              <a:t>The NP-complete problems are the “hardest” problems in NP.</a:t>
            </a:r>
          </a:p>
          <a:p>
            <a:pPr marL="0" indent="0">
              <a:lnSpc>
                <a:spcPct val="100000"/>
              </a:lnSpc>
              <a:buNone/>
              <a:tabLst>
                <a:tab pos="3657600" algn="l"/>
                <a:tab pos="7315200" algn="l"/>
              </a:tabLst>
            </a:pPr>
            <a:r>
              <a:rPr lang="en-US" dirty="0"/>
              <a:t>If </a:t>
            </a:r>
            <a:r>
              <a:rPr lang="en-US" u="sng" dirty="0"/>
              <a:t>some</a:t>
            </a:r>
            <a:r>
              <a:rPr lang="en-US" dirty="0"/>
              <a:t> NP-complete problem could be solved in polynomial time,    then </a:t>
            </a:r>
            <a:r>
              <a:rPr lang="en-US" u="sng" dirty="0"/>
              <a:t>all</a:t>
            </a:r>
            <a:r>
              <a:rPr lang="en-US" dirty="0"/>
              <a:t> problems in NP could also be solved in polynomial time. </a:t>
            </a:r>
          </a:p>
        </p:txBody>
      </p:sp>
    </p:spTree>
    <p:extLst>
      <p:ext uri="{BB962C8B-B14F-4D97-AF65-F5344CB8AC3E}">
        <p14:creationId xmlns:p14="http://schemas.microsoft.com/office/powerpoint/2010/main" val="22487811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C000"/>
                </a:solidFill>
              </a:rPr>
              <a:t>Class NP-complete</a:t>
            </a:r>
            <a:endParaRPr lang="en-US" b="1" baseline="-25000" dirty="0">
              <a:solidFill>
                <a:srgbClr val="FFC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C045D6-7A9F-2D84-1435-30475B84C5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8883" y="1701796"/>
            <a:ext cx="10514329" cy="5003803"/>
          </a:xfrm>
        </p:spPr>
        <p:txBody>
          <a:bodyPr>
            <a:normAutofit/>
          </a:bodyPr>
          <a:lstStyle/>
          <a:p>
            <a:pPr marL="0" indent="0">
              <a:buNone/>
              <a:tabLst>
                <a:tab pos="3657600" algn="l"/>
                <a:tab pos="7315200" algn="l"/>
              </a:tabLst>
            </a:pPr>
            <a:r>
              <a:rPr lang="en-US" dirty="0"/>
              <a:t>How do we know that even one </a:t>
            </a:r>
            <a:r>
              <a:rPr lang="en-US" b="1" dirty="0">
                <a:solidFill>
                  <a:srgbClr val="FFC000"/>
                </a:solidFill>
              </a:rPr>
              <a:t>NP-complete </a:t>
            </a:r>
            <a:r>
              <a:rPr lang="en-US" dirty="0"/>
              <a:t>problem exists?</a:t>
            </a:r>
          </a:p>
          <a:p>
            <a:pPr marL="377886" lvl="1" indent="0">
              <a:buNone/>
              <a:tabLst>
                <a:tab pos="3657600" algn="l"/>
                <a:tab pos="7315200" algn="l"/>
              </a:tabLst>
            </a:pPr>
            <a:endParaRPr lang="en-US" sz="1400" dirty="0">
              <a:solidFill>
                <a:srgbClr val="FFC000"/>
              </a:solidFill>
            </a:endParaRPr>
          </a:p>
          <a:p>
            <a:pPr marL="377886" lvl="1" indent="0">
              <a:buNone/>
              <a:tabLst>
                <a:tab pos="3657600" algn="l"/>
                <a:tab pos="7315200" algn="l"/>
              </a:tabLst>
            </a:pPr>
            <a:r>
              <a:rPr lang="en-US" sz="2800" dirty="0">
                <a:solidFill>
                  <a:srgbClr val="FFC000"/>
                </a:solidFill>
              </a:rPr>
              <a:t>SATISFIABILITY</a:t>
            </a:r>
            <a:r>
              <a:rPr lang="en-US" sz="2800" dirty="0"/>
              <a:t>:  Given a Boolean expression with  n  Boolean variables, find an assignment of truth values (T or F) to the  n  Boolean variables so that the Boolean expression evaluates to T   (i.e., the expression is SATISFIED) or show no such assignment exists.</a:t>
            </a:r>
          </a:p>
          <a:p>
            <a:pPr marL="377886" lvl="1" indent="0">
              <a:buNone/>
              <a:tabLst>
                <a:tab pos="3657600" algn="l"/>
                <a:tab pos="7315200" algn="l"/>
              </a:tabLst>
            </a:pPr>
            <a:endParaRPr lang="en-US" sz="1200" dirty="0"/>
          </a:p>
          <a:p>
            <a:pPr marL="377886" lvl="1" indent="0">
              <a:buNone/>
              <a:tabLst>
                <a:tab pos="3657600" algn="l"/>
                <a:tab pos="7315200" algn="l"/>
              </a:tabLst>
            </a:pPr>
            <a:r>
              <a:rPr lang="en-US" sz="2800" dirty="0"/>
              <a:t>Boolean expression with n = 3 variables: </a:t>
            </a:r>
          </a:p>
          <a:p>
            <a:pPr marL="377886" lvl="1" indent="0">
              <a:buNone/>
              <a:tabLst>
                <a:tab pos="2293938" algn="l"/>
                <a:tab pos="7315200" algn="l"/>
              </a:tabLst>
            </a:pPr>
            <a:r>
              <a:rPr lang="en-US" sz="2800" dirty="0"/>
              <a:t>	(P </a:t>
            </a:r>
            <a:r>
              <a:rPr lang="en-US" sz="2800" dirty="0">
                <a:sym typeface="Symbol" panose="05050102010706020507" pitchFamily="18" charset="2"/>
              </a:rPr>
              <a:t> Q  ~R)  (~</a:t>
            </a:r>
            <a:r>
              <a:rPr lang="en-US" sz="2800" dirty="0"/>
              <a:t>P </a:t>
            </a:r>
            <a:r>
              <a:rPr lang="en-US" sz="2800" dirty="0">
                <a:sym typeface="Symbol" panose="05050102010706020507" pitchFamily="18" charset="2"/>
              </a:rPr>
              <a:t> Q  R)  (~</a:t>
            </a:r>
            <a:r>
              <a:rPr lang="en-US" sz="2800" dirty="0"/>
              <a:t>P </a:t>
            </a:r>
            <a:r>
              <a:rPr lang="en-US" sz="2800" dirty="0">
                <a:sym typeface="Symbol" panose="05050102010706020507" pitchFamily="18" charset="2"/>
              </a:rPr>
              <a:t> ~Q  R)</a:t>
            </a:r>
            <a:endParaRPr lang="en-US" sz="2800" dirty="0"/>
          </a:p>
          <a:p>
            <a:pPr marL="0" indent="0">
              <a:buNone/>
              <a:tabLst>
                <a:tab pos="3657600" algn="l"/>
                <a:tab pos="7315200" algn="l"/>
              </a:tabLst>
            </a:pPr>
            <a:endParaRPr lang="en-US" sz="1100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638114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C000"/>
                </a:solidFill>
              </a:rPr>
              <a:t>Class NP-complete</a:t>
            </a:r>
            <a:endParaRPr lang="en-US" b="1" baseline="-25000" dirty="0">
              <a:solidFill>
                <a:srgbClr val="FFC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C045D6-7A9F-2D84-1435-30475B84C5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8883" y="1701796"/>
            <a:ext cx="9218929" cy="5003803"/>
          </a:xfrm>
        </p:spPr>
        <p:txBody>
          <a:bodyPr>
            <a:normAutofit/>
          </a:bodyPr>
          <a:lstStyle/>
          <a:p>
            <a:pPr marL="0" indent="0">
              <a:buNone/>
              <a:tabLst>
                <a:tab pos="3657600" algn="l"/>
                <a:tab pos="7315200" algn="l"/>
              </a:tabLst>
            </a:pPr>
            <a:r>
              <a:rPr lang="en-US" dirty="0">
                <a:solidFill>
                  <a:srgbClr val="FFC000"/>
                </a:solidFill>
              </a:rPr>
              <a:t>Cook’s Theorem (1971):   The Boolean satisfiability problem is NP-complete.</a:t>
            </a:r>
          </a:p>
          <a:p>
            <a:pPr marL="0" indent="0">
              <a:buNone/>
              <a:tabLst>
                <a:tab pos="3657600" algn="l"/>
                <a:tab pos="7315200" algn="l"/>
              </a:tabLst>
            </a:pPr>
            <a:r>
              <a:rPr lang="en-US" dirty="0"/>
              <a:t>Very difficult proof that involves creating a non-deterministic Turing machine that runs in polynomial time and transforms </a:t>
            </a:r>
            <a:r>
              <a:rPr lang="en-US" u="sng" dirty="0"/>
              <a:t>any</a:t>
            </a:r>
            <a:r>
              <a:rPr lang="en-US" dirty="0"/>
              <a:t> problem in NP to the Boolean satisfiability problem.</a:t>
            </a:r>
          </a:p>
        </p:txBody>
      </p:sp>
    </p:spTree>
    <p:extLst>
      <p:ext uri="{BB962C8B-B14F-4D97-AF65-F5344CB8AC3E}">
        <p14:creationId xmlns:p14="http://schemas.microsoft.com/office/powerpoint/2010/main" val="17279216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C000"/>
                </a:solidFill>
              </a:rPr>
              <a:t>Some important NP-complete problems</a:t>
            </a:r>
            <a:endParaRPr lang="en-US" b="1" baseline="-25000" dirty="0">
              <a:solidFill>
                <a:srgbClr val="FFC00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D247E72-EB34-409C-6EFA-15FBD0A48F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5812" y="1772992"/>
            <a:ext cx="8346644" cy="4810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05025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Tech 16x9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>
    <a:spDef>
      <a:spPr/>
      <a:bodyPr rtlCol="0" anchor="ctr"/>
      <a:lstStyle>
        <a:defPPr algn="ctr">
          <a:defRPr sz="280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2800"/>
        </a:defPPr>
      </a:lstStyle>
    </a:txDef>
  </a:objectDefaults>
  <a:extraClrSchemeLst/>
  <a:extLst>
    <a:ext uri="{05A4C25C-085E-4340-85A3-A5531E510DB2}">
      <thm15:themeFamily xmlns:thm15="http://schemas.microsoft.com/office/thememl/2012/main" name="TF02787990.potx" id="{BDB9CD5E-36EC-45F3-B87D-6D062B8A3823}" vid="{51682E2F-7C85-4D6F-AD40-072EFC83910D}"/>
    </a:ext>
  </a:extLst>
</a:theme>
</file>

<file path=ppt/theme/theme2.xml><?xml version="1.0" encoding="utf-8"?>
<a:theme xmlns:a="http://schemas.openxmlformats.org/drawingml/2006/main" name="Office Theme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ocPublishedLinkedAssetsLookup xmlns="4873beb7-5857-4685-be1f-d57550cc96cc" xsi:nil="true"/>
    <ApprovalStatus xmlns="4873beb7-5857-4685-be1f-d57550cc96cc">InProgress</ApprovalStatus>
    <MarketSpecific xmlns="4873beb7-5857-4685-be1f-d57550cc96cc">false</MarketSpecific>
    <LocComments xmlns="4873beb7-5857-4685-be1f-d57550cc96cc" xsi:nil="true"/>
    <LocLastLocAttemptVersionTypeLookup xmlns="4873beb7-5857-4685-be1f-d57550cc96cc" xsi:nil="true"/>
    <DirectSourceMarket xmlns="4873beb7-5857-4685-be1f-d57550cc96cc" xsi:nil="true"/>
    <ThumbnailAssetId xmlns="4873beb7-5857-4685-be1f-d57550cc96cc" xsi:nil="true"/>
    <PrimaryImageGen xmlns="4873beb7-5857-4685-be1f-d57550cc96cc">false</PrimaryImageGen>
    <LocNewPublishedVersionLookup xmlns="4873beb7-5857-4685-be1f-d57550cc96cc" xsi:nil="true"/>
    <LegacyData xmlns="4873beb7-5857-4685-be1f-d57550cc96cc" xsi:nil="true"/>
    <LocRecommendedHandoff xmlns="4873beb7-5857-4685-be1f-d57550cc96cc" xsi:nil="true"/>
    <BusinessGroup xmlns="4873beb7-5857-4685-be1f-d57550cc96cc" xsi:nil="true"/>
    <BlockPublish xmlns="4873beb7-5857-4685-be1f-d57550cc96cc">false</BlockPublish>
    <TPFriendlyName xmlns="4873beb7-5857-4685-be1f-d57550cc96cc" xsi:nil="true"/>
    <LocOverallPublishStatusLookup xmlns="4873beb7-5857-4685-be1f-d57550cc96cc" xsi:nil="true"/>
    <NumericId xmlns="4873beb7-5857-4685-be1f-d57550cc96cc" xsi:nil="true"/>
    <APEditor xmlns="4873beb7-5857-4685-be1f-d57550cc96cc">
      <UserInfo>
        <DisplayName/>
        <AccountId xsi:nil="true"/>
        <AccountType/>
      </UserInfo>
    </APEditor>
    <SourceTitle xmlns="4873beb7-5857-4685-be1f-d57550cc96cc" xsi:nil="true"/>
    <OpenTemplate xmlns="4873beb7-5857-4685-be1f-d57550cc96cc">true</OpenTemplate>
    <LocOverallLocStatusLookup xmlns="4873beb7-5857-4685-be1f-d57550cc96cc" xsi:nil="true"/>
    <UALocComments xmlns="4873beb7-5857-4685-be1f-d57550cc96cc" xsi:nil="true"/>
    <ParentAssetId xmlns="4873beb7-5857-4685-be1f-d57550cc96cc" xsi:nil="true"/>
    <IntlLangReviewDate xmlns="4873beb7-5857-4685-be1f-d57550cc96cc" xsi:nil="true"/>
    <FeatureTagsTaxHTField0 xmlns="4873beb7-5857-4685-be1f-d57550cc96cc">
      <Terms xmlns="http://schemas.microsoft.com/office/infopath/2007/PartnerControls"/>
    </FeatureTagsTaxHTField0>
    <PublishStatusLookup xmlns="4873beb7-5857-4685-be1f-d57550cc96cc">
      <Value>1345093</Value>
    </PublishStatusLookup>
    <Providers xmlns="4873beb7-5857-4685-be1f-d57550cc96cc" xsi:nil="true"/>
    <MachineTranslated xmlns="4873beb7-5857-4685-be1f-d57550cc96cc">false</MachineTranslated>
    <OriginalSourceMarket xmlns="4873beb7-5857-4685-be1f-d57550cc96cc" xsi:nil="true"/>
    <APDescription xmlns="4873beb7-5857-4685-be1f-d57550cc96cc">This simple template design works for technology and  businesses, but it's versatile enough to use in other contexts.  It features multiple slide layouts designed for widescreen (16x9 resolution) and includes a sample SmartArt list and chart that are easily editable.</APDescription>
    <ClipArtFilename xmlns="4873beb7-5857-4685-be1f-d57550cc96cc" xsi:nil="true"/>
    <ContentItem xmlns="4873beb7-5857-4685-be1f-d57550cc96cc" xsi:nil="true"/>
    <TPInstallLocation xmlns="4873beb7-5857-4685-be1f-d57550cc96cc" xsi:nil="true"/>
    <PublishTargets xmlns="4873beb7-5857-4685-be1f-d57550cc96cc">OfficeOnlineVNext</PublishTargets>
    <TimesCloned xmlns="4873beb7-5857-4685-be1f-d57550cc96cc" xsi:nil="true"/>
    <AssetStart xmlns="4873beb7-5857-4685-be1f-d57550cc96cc">2011-11-26T00:30:00+00:00</AssetStart>
    <Provider xmlns="4873beb7-5857-4685-be1f-d57550cc96cc" xsi:nil="true"/>
    <AcquiredFrom xmlns="4873beb7-5857-4685-be1f-d57550cc96cc">Internal MS</AcquiredFrom>
    <FriendlyTitle xmlns="4873beb7-5857-4685-be1f-d57550cc96cc" xsi:nil="true"/>
    <LastHandOff xmlns="4873beb7-5857-4685-be1f-d57550cc96cc" xsi:nil="true"/>
    <TPClientViewer xmlns="4873beb7-5857-4685-be1f-d57550cc96cc" xsi:nil="true"/>
    <TemplateStatus xmlns="4873beb7-5857-4685-be1f-d57550cc96cc">Complete</TemplateStatus>
    <Downloads xmlns="4873beb7-5857-4685-be1f-d57550cc96cc">0</Downloads>
    <OOCacheId xmlns="4873beb7-5857-4685-be1f-d57550cc96cc" xsi:nil="true"/>
    <IsDeleted xmlns="4873beb7-5857-4685-be1f-d57550cc96cc">false</IsDeleted>
    <LocPublishedDependentAssetsLookup xmlns="4873beb7-5857-4685-be1f-d57550cc96cc" xsi:nil="true"/>
    <TPExecutable xmlns="4873beb7-5857-4685-be1f-d57550cc96cc" xsi:nil="true"/>
    <EditorialTags xmlns="4873beb7-5857-4685-be1f-d57550cc96cc" xsi:nil="true"/>
    <SubmitterId xmlns="4873beb7-5857-4685-be1f-d57550cc96cc" xsi:nil="true"/>
    <ApprovalLog xmlns="4873beb7-5857-4685-be1f-d57550cc96cc" xsi:nil="true"/>
    <AssetType xmlns="4873beb7-5857-4685-be1f-d57550cc96cc">TP</AssetType>
    <BugNumber xmlns="4873beb7-5857-4685-be1f-d57550cc96cc" xsi:nil="true"/>
    <CSXSubmissionDate xmlns="4873beb7-5857-4685-be1f-d57550cc96cc" xsi:nil="true"/>
    <CSXUpdate xmlns="4873beb7-5857-4685-be1f-d57550cc96cc">false</CSXUpdate>
    <Milestone xmlns="4873beb7-5857-4685-be1f-d57550cc96cc" xsi:nil="true"/>
    <RecommendationsModifier xmlns="4873beb7-5857-4685-be1f-d57550cc96cc" xsi:nil="true"/>
    <OriginAsset xmlns="4873beb7-5857-4685-be1f-d57550cc96cc" xsi:nil="true"/>
    <TPComponent xmlns="4873beb7-5857-4685-be1f-d57550cc96cc" xsi:nil="true"/>
    <AssetId xmlns="4873beb7-5857-4685-be1f-d57550cc96cc">TP102787989</AssetId>
    <IntlLocPriority xmlns="4873beb7-5857-4685-be1f-d57550cc96cc" xsi:nil="true"/>
    <PolicheckWords xmlns="4873beb7-5857-4685-be1f-d57550cc96cc" xsi:nil="true"/>
    <TPLaunchHelpLink xmlns="4873beb7-5857-4685-be1f-d57550cc96cc" xsi:nil="true"/>
    <TPApplication xmlns="4873beb7-5857-4685-be1f-d57550cc96cc" xsi:nil="true"/>
    <CrawlForDependencies xmlns="4873beb7-5857-4685-be1f-d57550cc96cc">false</CrawlForDependencies>
    <HandoffToMSDN xmlns="4873beb7-5857-4685-be1f-d57550cc96cc" xsi:nil="true"/>
    <PlannedPubDate xmlns="4873beb7-5857-4685-be1f-d57550cc96cc" xsi:nil="true"/>
    <IntlLangReviewer xmlns="4873beb7-5857-4685-be1f-d57550cc96cc" xsi:nil="true"/>
    <TrustLevel xmlns="4873beb7-5857-4685-be1f-d57550cc96cc">1 Microsoft Managed Content</TrustLevel>
    <LocLastLocAttemptVersionLookup xmlns="4873beb7-5857-4685-be1f-d57550cc96cc">694266</LocLastLocAttemptVersionLookup>
    <LocProcessedForHandoffsLookup xmlns="4873beb7-5857-4685-be1f-d57550cc96cc" xsi:nil="true"/>
    <IsSearchable xmlns="4873beb7-5857-4685-be1f-d57550cc96cc">true</IsSearchable>
    <TemplateTemplateType xmlns="4873beb7-5857-4685-be1f-d57550cc96cc">PowerPoint Presentation Template</TemplateTemplateType>
    <CampaignTagsTaxHTField0 xmlns="4873beb7-5857-4685-be1f-d57550cc96cc">
      <Terms xmlns="http://schemas.microsoft.com/office/infopath/2007/PartnerControls"/>
    </CampaignTagsTaxHTField0>
    <TPNamespace xmlns="4873beb7-5857-4685-be1f-d57550cc96cc" xsi:nil="true"/>
    <LocOverallPreviewStatusLookup xmlns="4873beb7-5857-4685-be1f-d57550cc96cc" xsi:nil="true"/>
    <TaxCatchAll xmlns="4873beb7-5857-4685-be1f-d57550cc96cc"/>
    <Markets xmlns="4873beb7-5857-4685-be1f-d57550cc96cc"/>
    <UAProjectedTotalWords xmlns="4873beb7-5857-4685-be1f-d57550cc96cc" xsi:nil="true"/>
    <IntlLangReview xmlns="4873beb7-5857-4685-be1f-d57550cc96cc" xsi:nil="true"/>
    <OutputCachingOn xmlns="4873beb7-5857-4685-be1f-d57550cc96cc">false</OutputCachingOn>
    <AverageRating xmlns="4873beb7-5857-4685-be1f-d57550cc96cc" xsi:nil="true"/>
    <APAuthor xmlns="4873beb7-5857-4685-be1f-d57550cc96cc">
      <UserInfo>
        <DisplayName>REDMOND\kristaa</DisplayName>
        <AccountId>136</AccountId>
        <AccountType/>
      </UserInfo>
    </APAuthor>
    <LocManualTestRequired xmlns="4873beb7-5857-4685-be1f-d57550cc96cc">false</LocManualTestRequired>
    <TPCommandLine xmlns="4873beb7-5857-4685-be1f-d57550cc96cc" xsi:nil="true"/>
    <TPAppVersion xmlns="4873beb7-5857-4685-be1f-d57550cc96cc" xsi:nil="true"/>
    <EditorialStatus xmlns="4873beb7-5857-4685-be1f-d57550cc96cc">Complete</EditorialStatus>
    <LastModifiedDateTime xmlns="4873beb7-5857-4685-be1f-d57550cc96cc" xsi:nil="true"/>
    <ScenarioTagsTaxHTField0 xmlns="4873beb7-5857-4685-be1f-d57550cc96cc">
      <Terms xmlns="http://schemas.microsoft.com/office/infopath/2007/PartnerControls"/>
    </ScenarioTagsTaxHTField0>
    <LocProcessedForMarketsLookup xmlns="4873beb7-5857-4685-be1f-d57550cc96cc" xsi:nil="true"/>
    <TPLaunchHelpLinkType xmlns="4873beb7-5857-4685-be1f-d57550cc96cc">Template</TPLaunchHelpLinkType>
    <OriginalRelease xmlns="4873beb7-5857-4685-be1f-d57550cc96cc">15</OriginalRelease>
    <LocalizationTagsTaxHTField0 xmlns="4873beb7-5857-4685-be1f-d57550cc96cc">
      <Terms xmlns="http://schemas.microsoft.com/office/infopath/2007/PartnerControls"/>
    </LocalizationTagsTaxHTField0>
    <UACurrentWords xmlns="4873beb7-5857-4685-be1f-d57550cc96cc" xsi:nil="true"/>
    <ArtSampleDocs xmlns="4873beb7-5857-4685-be1f-d57550cc96cc" xsi:nil="true"/>
    <UALocRecommendation xmlns="4873beb7-5857-4685-be1f-d57550cc96cc">Localize</UALocRecommendation>
    <Manager xmlns="4873beb7-5857-4685-be1f-d57550cc96cc" xsi:nil="true"/>
    <LocOverallHandbackStatusLookup xmlns="4873beb7-5857-4685-be1f-d57550cc96cc" xsi:nil="true"/>
    <ShowIn xmlns="4873beb7-5857-4685-be1f-d57550cc96cc">Show everywhere</ShowIn>
    <UANotes xmlns="4873beb7-5857-4685-be1f-d57550cc96cc" xsi:nil="true"/>
    <InternalTagsTaxHTField0 xmlns="4873beb7-5857-4685-be1f-d57550cc96cc">
      <Terms xmlns="http://schemas.microsoft.com/office/infopath/2007/PartnerControls"/>
    </InternalTagsTaxHTField0>
    <CSXHash xmlns="4873beb7-5857-4685-be1f-d57550cc96cc" xsi:nil="true"/>
    <VoteCount xmlns="4873beb7-5857-4685-be1f-d57550cc96cc" xsi:nil="true"/>
    <AssetExpire xmlns="4873beb7-5857-4685-be1f-d57550cc96cc">2029-05-12T07:00:00+00:00</AssetExpire>
    <DSATActionTaken xmlns="4873beb7-5857-4685-be1f-d57550cc96cc" xsi:nil="true"/>
    <CSXSubmissionMarket xmlns="4873beb7-5857-4685-be1f-d57550cc96cc" xsi:nil="true"/>
    <LocMarketGroupTiers2 xmlns="4873beb7-5857-4685-be1f-d57550cc96cc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TemplateFile" ma:contentTypeID="0x0101006EDDDB5EE6D98C44930B742096920B300400F5B6D36B3EF94B4E9A635CDF2A18F5B8" ma:contentTypeVersion="72" ma:contentTypeDescription="Create a new document." ma:contentTypeScope="" ma:versionID="a23e56308344d904b51738559c3d67c9">
  <xsd:schema xmlns:xsd="http://www.w3.org/2001/XMLSchema" xmlns:xs="http://www.w3.org/2001/XMLSchema" xmlns:p="http://schemas.microsoft.com/office/2006/metadata/properties" xmlns:ns2="4873beb7-5857-4685-be1f-d57550cc96cc" targetNamespace="http://schemas.microsoft.com/office/2006/metadata/properties" ma:root="true" ma:fieldsID="cd0908cc4600e77bf5da051303e00c8d" ns2:_="">
    <xsd:import namespace="4873beb7-5857-4685-be1f-d57550cc96cc"/>
    <xsd:element name="properties">
      <xsd:complexType>
        <xsd:sequence>
          <xsd:element name="documentManagement">
            <xsd:complexType>
              <xsd:all>
                <xsd:element ref="ns2:AcquiredFrom" minOccurs="0"/>
                <xsd:element ref="ns2:UACurrentWords" minOccurs="0"/>
                <xsd:element ref="ns2:TPApplication" minOccurs="0"/>
                <xsd:element ref="ns2:ApprovalLog" minOccurs="0"/>
                <xsd:element ref="ns2:ApprovalStatus" minOccurs="0"/>
                <xsd:element ref="ns2:AssetStart" minOccurs="0"/>
                <xsd:element ref="ns2:AssetExpire" minOccurs="0"/>
                <xsd:element ref="ns2:AssetId" minOccurs="0"/>
                <xsd:element ref="ns2:IsSearchable" minOccurs="0"/>
                <xsd:element ref="ns2:AssetType" minOccurs="0"/>
                <xsd:element ref="ns2:APAuthor" minOccurs="0"/>
                <xsd:element ref="ns2:AverageRating" minOccurs="0"/>
                <xsd:element ref="ns2:BlockPublish" minOccurs="0"/>
                <xsd:element ref="ns2:BugNumber" minOccurs="0"/>
                <xsd:element ref="ns2:CampaignTagsTaxHTField0" minOccurs="0"/>
                <xsd:element ref="ns2:TPClientViewer" minOccurs="0"/>
                <xsd:element ref="ns2:ClipArtFilename" minOccurs="0"/>
                <xsd:element ref="ns2:TPCommandLine" minOccurs="0"/>
                <xsd:element ref="ns2:TPComponent" minOccurs="0"/>
                <xsd:element ref="ns2:ContentItem" minOccurs="0"/>
                <xsd:element ref="ns2:CrawlForDependencies" minOccurs="0"/>
                <xsd:element ref="ns2:CSXHash" minOccurs="0"/>
                <xsd:element ref="ns2:CSXSubmissionMarket" minOccurs="0"/>
                <xsd:element ref="ns2:CSXUpdate" minOccurs="0"/>
                <xsd:element ref="ns2:IntlLangReviewDate" minOccurs="0"/>
                <xsd:element ref="ns2:IsDeleted" minOccurs="0"/>
                <xsd:element ref="ns2:APDescription" minOccurs="0"/>
                <xsd:element ref="ns2:DirectSourceMarket" minOccurs="0"/>
                <xsd:element ref="ns2:Downloads" minOccurs="0"/>
                <xsd:element ref="ns2:DSATActionTaken" minOccurs="0"/>
                <xsd:element ref="ns2:APEditor" minOccurs="0"/>
                <xsd:element ref="ns2:EditorialStatus" minOccurs="0"/>
                <xsd:element ref="ns2:EditorialTags" minOccurs="0"/>
                <xsd:element ref="ns2:TPExecutable" minOccurs="0"/>
                <xsd:element ref="ns2:FeatureTagsTaxHTField0" minOccurs="0"/>
                <xsd:element ref="ns2:TPFriendlyName" minOccurs="0"/>
                <xsd:element ref="ns2:FriendlyTitle" minOccurs="0"/>
                <xsd:element ref="ns2:PrimaryImageGen" minOccurs="0"/>
                <xsd:element ref="ns2:HandoffToMSDN" minOccurs="0"/>
                <xsd:element ref="ns2:InProjectListLookup" minOccurs="0"/>
                <xsd:element ref="ns2:TPInstallLocation" minOccurs="0"/>
                <xsd:element ref="ns2:InternalTagsTaxHTField0" minOccurs="0"/>
                <xsd:element ref="ns2:IntlLangReview" minOccurs="0"/>
                <xsd:element ref="ns2:IntlLangReviewer" minOccurs="0"/>
                <xsd:element ref="ns2:MarketSpecific" minOccurs="0"/>
                <xsd:element ref="ns2:LastCompleteVersionLookup" minOccurs="0"/>
                <xsd:element ref="ns2:LastHandOff" minOccurs="0"/>
                <xsd:element ref="ns2:LastModifiedDateTime" minOccurs="0"/>
                <xsd:element ref="ns2:LastPreviewErrorLookup" minOccurs="0"/>
                <xsd:element ref="ns2:LastPreviewResultLookup" minOccurs="0"/>
                <xsd:element ref="ns2:LastPreviewAttemptDateLookup" minOccurs="0"/>
                <xsd:element ref="ns2:LastPreviewedByLookup" minOccurs="0"/>
                <xsd:element ref="ns2:LastPreviewTimeLookup" minOccurs="0"/>
                <xsd:element ref="ns2:LastPreviewVersionLookup" minOccurs="0"/>
                <xsd:element ref="ns2:LastPublishErrorLookup" minOccurs="0"/>
                <xsd:element ref="ns2:LastPublishResultLookup" minOccurs="0"/>
                <xsd:element ref="ns2:LastPublishAttemptDateLookup" minOccurs="0"/>
                <xsd:element ref="ns2:LastPublishedByLookup" minOccurs="0"/>
                <xsd:element ref="ns2:LastPublishTimeLookup" minOccurs="0"/>
                <xsd:element ref="ns2:LastPublishVersionLookup" minOccurs="0"/>
                <xsd:element ref="ns2:TPLaunchHelpLinkType" minOccurs="0"/>
                <xsd:element ref="ns2:LegacyData" minOccurs="0"/>
                <xsd:element ref="ns2:TPLaunchHelpLink" minOccurs="0"/>
                <xsd:element ref="ns2:LocComments" minOccurs="0"/>
                <xsd:element ref="ns2:LocLastLocAttemptVersionLookup" minOccurs="0"/>
                <xsd:element ref="ns2:LocLastLocAttemptVersionTypeLookup" minOccurs="0"/>
                <xsd:element ref="ns2:LocManualTestRequired" minOccurs="0"/>
                <xsd:element ref="ns2:LocMarketGroupTiers2" minOccurs="0"/>
                <xsd:element ref="ns2:LocNewPublishedVersionLookup" minOccurs="0"/>
                <xsd:element ref="ns2:LocOverallHandbackStatusLookup" minOccurs="0"/>
                <xsd:element ref="ns2:LocOverallLocStatusLookup" minOccurs="0"/>
                <xsd:element ref="ns2:LocOverallPreviewStatusLookup" minOccurs="0"/>
                <xsd:element ref="ns2:LocOverallPublishStatusLookup" minOccurs="0"/>
                <xsd:element ref="ns2:IntlLocPriority" minOccurs="0"/>
                <xsd:element ref="ns2:LocProcessedForHandoffsLookup" minOccurs="0"/>
                <xsd:element ref="ns2:LocProcessedForMarketsLookup" minOccurs="0"/>
                <xsd:element ref="ns2:LocPublishedDependentAssetsLookup" minOccurs="0"/>
                <xsd:element ref="ns2:LocPublishedLinkedAssetsLookup" minOccurs="0"/>
                <xsd:element ref="ns2:LocRecommendedHandoff" minOccurs="0"/>
                <xsd:element ref="ns2:LocalizationTagsTaxHTField0" minOccurs="0"/>
                <xsd:element ref="ns2:MachineTranslated" minOccurs="0"/>
                <xsd:element ref="ns2:Manager" minOccurs="0"/>
                <xsd:element ref="ns2:Markets" minOccurs="0"/>
                <xsd:element ref="ns2:Milestone" minOccurs="0"/>
                <xsd:element ref="ns2:TPNamespace" minOccurs="0"/>
                <xsd:element ref="ns2:NumericId" minOccurs="0"/>
                <xsd:element ref="ns2:NumOfRatingsLookup" minOccurs="0"/>
                <xsd:element ref="ns2:OOCacheId" minOccurs="0"/>
                <xsd:element ref="ns2:OpenTemplate" minOccurs="0"/>
                <xsd:element ref="ns2:OriginAsset" minOccurs="0"/>
                <xsd:element ref="ns2:OriginalRelease" minOccurs="0"/>
                <xsd:element ref="ns2:OriginalSourceMarket" minOccurs="0"/>
                <xsd:element ref="ns2:OutputCachingOn" minOccurs="0"/>
                <xsd:element ref="ns2:ParentAssetId" minOccurs="0"/>
                <xsd:element ref="ns2:PlannedPubDate" minOccurs="0"/>
                <xsd:element ref="ns2:PolicheckWords" minOccurs="0"/>
                <xsd:element ref="ns2:BusinessGroup" minOccurs="0"/>
                <xsd:element ref="ns2:UAProjectedTotalWords" minOccurs="0"/>
                <xsd:element ref="ns2:Provider" minOccurs="0"/>
                <xsd:element ref="ns2:Providers" minOccurs="0"/>
                <xsd:element ref="ns2:PublishStatusLookup" minOccurs="0"/>
                <xsd:element ref="ns2:PublishTargets" minOccurs="0"/>
                <xsd:element ref="ns2:RecommendationsModifier" minOccurs="0"/>
                <xsd:element ref="ns2:ArtSampleDocs" minOccurs="0"/>
                <xsd:element ref="ns2:ScenarioTagsTaxHTField0" minOccurs="0"/>
                <xsd:element ref="ns2:ShowIn" minOccurs="0"/>
                <xsd:element ref="ns2:SourceTitle" minOccurs="0"/>
                <xsd:element ref="ns2:CSXSubmissionDate" minOccurs="0"/>
                <xsd:element ref="ns2:SubmitterId" minOccurs="0"/>
                <xsd:element ref="ns2:TaxCatchAll" minOccurs="0"/>
                <xsd:element ref="ns2:TaxCatchAllLabel" minOccurs="0"/>
                <xsd:element ref="ns2:TemplateStatus" minOccurs="0"/>
                <xsd:element ref="ns2:TemplateTemplateType" minOccurs="0"/>
                <xsd:element ref="ns2:ThumbnailAssetId" minOccurs="0"/>
                <xsd:element ref="ns2:TimesCloned" minOccurs="0"/>
                <xsd:element ref="ns2:TrustLevel" minOccurs="0"/>
                <xsd:element ref="ns2:UALocComments" minOccurs="0"/>
                <xsd:element ref="ns2:UALocRecommendation" minOccurs="0"/>
                <xsd:element ref="ns2:UANotes" minOccurs="0"/>
                <xsd:element ref="ns2:TPAppVersion" minOccurs="0"/>
                <xsd:element ref="ns2:VoteCou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73beb7-5857-4685-be1f-d57550cc96cc" elementFormDefault="qualified">
    <xsd:import namespace="http://schemas.microsoft.com/office/2006/documentManagement/types"/>
    <xsd:import namespace="http://schemas.microsoft.com/office/infopath/2007/PartnerControls"/>
    <xsd:element name="AcquiredFrom" ma:index="1" nillable="true" ma:displayName="Acquired From" ma:default="Internal MS" ma:internalName="AcquiredFrom" ma:readOnly="false">
      <xsd:simpleType>
        <xsd:restriction base="dms:Choice">
          <xsd:enumeration value="Internal MS"/>
          <xsd:enumeration value="Community"/>
          <xsd:enumeration value="MVP"/>
          <xsd:enumeration value="Publisher"/>
          <xsd:enumeration value="Partner"/>
          <xsd:enumeration value="None"/>
        </xsd:restriction>
      </xsd:simpleType>
    </xsd:element>
    <xsd:element name="UACurrentWords" ma:index="2" nillable="true" ma:displayName="Actual Word Count" ma:default="" ma:internalName="UACurrentWords" ma:readOnly="false">
      <xsd:simpleType>
        <xsd:restriction base="dms:Unknown"/>
      </xsd:simpleType>
    </xsd:element>
    <xsd:element name="TPApplication" ma:index="3" nillable="true" ma:displayName="Application to Open Template With" ma:default="" ma:internalName="TPApplication">
      <xsd:simpleType>
        <xsd:restriction base="dms:Text"/>
      </xsd:simpleType>
    </xsd:element>
    <xsd:element name="ApprovalLog" ma:index="4" nillable="true" ma:displayName="Approval Log" ma:default="" ma:hidden="true" ma:internalName="ApprovalLog" ma:readOnly="false">
      <xsd:simpleType>
        <xsd:restriction base="dms:Note"/>
      </xsd:simpleType>
    </xsd:element>
    <xsd:element name="ApprovalStatus" ma:index="5" nillable="true" ma:displayName="Approval Status" ma:default="InProgress" ma:internalName="ApprovalStatus" ma:readOnly="false">
      <xsd:simpleType>
        <xsd:restriction base="dms:Choice">
          <xsd:enumeration value="InProgress"/>
          <xsd:enumeration value="Rejected"/>
          <xsd:enumeration value="Questionable"/>
          <xsd:enumeration value="ApprovedAutomatic"/>
          <xsd:enumeration value="ApprovedManual"/>
          <xsd:enumeration value="On Hold"/>
          <xsd:enumeration value="Needs Review"/>
          <xsd:enumeration value="A Violation"/>
          <xsd:enumeration value="Unpublished Violation"/>
        </xsd:restriction>
      </xsd:simpleType>
    </xsd:element>
    <xsd:element name="AssetStart" ma:index="6" nillable="true" ma:displayName="Asset Begin Date" ma:default="[Today]" ma:internalName="AssetStart" ma:readOnly="false">
      <xsd:simpleType>
        <xsd:restriction base="dms:DateTime"/>
      </xsd:simpleType>
    </xsd:element>
    <xsd:element name="AssetExpire" ma:index="7" nillable="true" ma:displayName="Asset End Date" ma:default="2029-01-01T08:00:00Z" ma:format="DateTime" ma:internalName="AssetExpire" ma:readOnly="false">
      <xsd:simpleType>
        <xsd:restriction base="dms:DateTime"/>
      </xsd:simpleType>
    </xsd:element>
    <xsd:element name="AssetId" ma:index="8" nillable="true" ma:displayName="Asset ID" ma:default="" ma:indexed="true" ma:internalName="AssetId" ma:readOnly="false">
      <xsd:simpleType>
        <xsd:restriction base="dms:Text">
          <xsd:maxLength value="255"/>
        </xsd:restriction>
      </xsd:simpleType>
    </xsd:element>
    <xsd:element name="IsSearchable" ma:index="9" nillable="true" ma:displayName="Asset Searchable?" ma:default="true" ma:internalName="IsSearchable" ma:readOnly="false">
      <xsd:simpleType>
        <xsd:restriction base="dms:Boolean"/>
      </xsd:simpleType>
    </xsd:element>
    <xsd:element name="AssetType" ma:index="10" nillable="true" ma:displayName="Asset Type" ma:default="" ma:internalName="AssetType" ma:readOnly="false">
      <xsd:simpleType>
        <xsd:restriction base="dms:Unknown"/>
      </xsd:simpleType>
    </xsd:element>
    <xsd:element name="APAuthor" ma:index="11" nillable="true" ma:displayName="Author" ma:default="" ma:list="UserInfo" ma:internalName="APAuth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AverageRating" ma:index="12" nillable="true" ma:displayName="Average Rating" ma:internalName="AverageRating" ma:readOnly="false">
      <xsd:simpleType>
        <xsd:restriction base="dms:Text"/>
      </xsd:simpleType>
    </xsd:element>
    <xsd:element name="BlockPublish" ma:index="13" nillable="true" ma:displayName="Block from Publishing?" ma:default="" ma:internalName="BlockPublish" ma:readOnly="false">
      <xsd:simpleType>
        <xsd:restriction base="dms:Boolean"/>
      </xsd:simpleType>
    </xsd:element>
    <xsd:element name="BugNumber" ma:index="14" nillable="true" ma:displayName="Bug Number" ma:default="" ma:internalName="BugNumber" ma:readOnly="false">
      <xsd:simpleType>
        <xsd:restriction base="dms:Text"/>
      </xsd:simpleType>
    </xsd:element>
    <xsd:element name="CampaignTagsTaxHTField0" ma:index="16" nillable="true" ma:taxonomy="true" ma:internalName="CampaignTagsTaxHTField0" ma:taxonomyFieldName="CampaignTags" ma:displayName="Campaigns" ma:readOnly="false" ma:default="" ma:fieldId="{1df42cc3-2301-4f11-a52a-6ead923c29ed}" ma:taxonomyMulti="true" ma:sspId="8f79753a-75d3-41f5-8ca3-40b843941b4f" ma:termSetId="ca0e50d4-faa1-44ce-961e-bb1441c60e6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ClientViewer" ma:index="17" nillable="true" ma:displayName="Client Viewer" ma:default="" ma:internalName="TPClientViewer">
      <xsd:simpleType>
        <xsd:restriction base="dms:Text"/>
      </xsd:simpleType>
    </xsd:element>
    <xsd:element name="ClipArtFilename" ma:index="18" nillable="true" ma:displayName="Clip Art Name" ma:default="" ma:internalName="ClipArtFilename" ma:readOnly="false">
      <xsd:simpleType>
        <xsd:restriction base="dms:Text"/>
      </xsd:simpleType>
    </xsd:element>
    <xsd:element name="TPCommandLine" ma:index="19" nillable="true" ma:displayName="Command Line" ma:default="" ma:internalName="TPCommandLine">
      <xsd:simpleType>
        <xsd:restriction base="dms:Text"/>
      </xsd:simpleType>
    </xsd:element>
    <xsd:element name="TPComponent" ma:index="20" nillable="true" ma:displayName="Component" ma:default="" ma:internalName="TPComponent">
      <xsd:simpleType>
        <xsd:restriction base="dms:Text"/>
      </xsd:simpleType>
    </xsd:element>
    <xsd:element name="ContentItem" ma:index="21" nillable="true" ma:displayName="Content Item" ma:default="" ma:hidden="true" ma:internalName="ContentItem" ma:readOnly="false">
      <xsd:simpleType>
        <xsd:restriction base="dms:Unknown"/>
      </xsd:simpleType>
    </xsd:element>
    <xsd:element name="CrawlForDependencies" ma:index="23" nillable="true" ma:displayName="Crawl for Dependencies?" ma:default="true" ma:internalName="CrawlForDependencies" ma:readOnly="false">
      <xsd:simpleType>
        <xsd:restriction base="dms:Boolean"/>
      </xsd:simpleType>
    </xsd:element>
    <xsd:element name="CSXHash" ma:index="26" nillable="true" ma:displayName="CSX Hash" ma:default="" ma:indexed="true" ma:internalName="CSXHash" ma:readOnly="false">
      <xsd:simpleType>
        <xsd:restriction base="dms:Text"/>
      </xsd:simpleType>
    </xsd:element>
    <xsd:element name="CSXSubmissionMarket" ma:index="27" nillable="true" ma:displayName="CSX Submission Market" ma:default="" ma:list="{2FBD1B11-2ACE-4FDC-B5A3-635D4ADF6F1B}" ma:internalName="CSXSubmissionMarket" ma:readOnly="false" ma:showField="MarketName" ma:web="4873beb7-5857-4685-be1f-d57550cc96cc">
      <xsd:simpleType>
        <xsd:restriction base="dms:Lookup"/>
      </xsd:simpleType>
    </xsd:element>
    <xsd:element name="CSXUpdate" ma:index="28" nillable="true" ma:displayName="CSX Updated?" ma:default="false" ma:internalName="CSXUpdate" ma:readOnly="false">
      <xsd:simpleType>
        <xsd:restriction base="dms:Boolean"/>
      </xsd:simpleType>
    </xsd:element>
    <xsd:element name="IntlLangReviewDate" ma:index="29" nillable="true" ma:displayName="Date to Complete Intl QA" ma:default="" ma:internalName="IntlLangReviewDate" ma:readOnly="false">
      <xsd:simpleType>
        <xsd:restriction base="dms:DateTime"/>
      </xsd:simpleType>
    </xsd:element>
    <xsd:element name="IsDeleted" ma:index="30" nillable="true" ma:displayName="Deleted?" ma:default="" ma:internalName="IsDeleted" ma:readOnly="false">
      <xsd:simpleType>
        <xsd:restriction base="dms:Boolean"/>
      </xsd:simpleType>
    </xsd:element>
    <xsd:element name="APDescription" ma:index="31" nillable="true" ma:displayName="Description" ma:default="" ma:internalName="APDescription" ma:readOnly="false">
      <xsd:simpleType>
        <xsd:restriction base="dms:Note"/>
      </xsd:simpleType>
    </xsd:element>
    <xsd:element name="DirectSourceMarket" ma:index="32" nillable="true" ma:displayName="Direct Source Market Group" ma:default="" ma:internalName="DirectSourceMarket" ma:readOnly="false">
      <xsd:simpleType>
        <xsd:restriction base="dms:Text"/>
      </xsd:simpleType>
    </xsd:element>
    <xsd:element name="Downloads" ma:index="33" nillable="true" ma:displayName="Downloads" ma:default="0" ma:hidden="true" ma:internalName="Downloads" ma:readOnly="false">
      <xsd:simpleType>
        <xsd:restriction base="dms:Unknown"/>
      </xsd:simpleType>
    </xsd:element>
    <xsd:element name="DSATActionTaken" ma:index="34" nillable="true" ma:displayName="DSAT Action Taken" ma:default="" ma:internalName="DSATActionTaken" ma:readOnly="false">
      <xsd:simpleType>
        <xsd:restriction base="dms:Choice">
          <xsd:enumeration value="Best Bets"/>
          <xsd:enumeration value="Expire"/>
          <xsd:enumeration value="Hide"/>
          <xsd:enumeration value="None"/>
        </xsd:restriction>
      </xsd:simpleType>
    </xsd:element>
    <xsd:element name="APEditor" ma:index="35" nillable="true" ma:displayName="Editor" ma:default="" ma:list="UserInfo" ma:internalName="APEdit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ditorialStatus" ma:index="36" nillable="true" ma:displayName="Editorial Status" ma:default="" ma:internalName="EditorialStatus" ma:readOnly="false">
      <xsd:simpleType>
        <xsd:restriction base="dms:Unknown"/>
      </xsd:simpleType>
    </xsd:element>
    <xsd:element name="EditorialTags" ma:index="37" nillable="true" ma:displayName="Editorial Tags" ma:default="" ma:internalName="EditorialTags">
      <xsd:simpleType>
        <xsd:restriction base="dms:Unknown"/>
      </xsd:simpleType>
    </xsd:element>
    <xsd:element name="TPExecutable" ma:index="38" nillable="true" ma:displayName="Executable" ma:default="" ma:internalName="TPExecutable">
      <xsd:simpleType>
        <xsd:restriction base="dms:Text"/>
      </xsd:simpleType>
    </xsd:element>
    <xsd:element name="FeatureTagsTaxHTField0" ma:index="40" nillable="true" ma:taxonomy="true" ma:internalName="FeatureTagsTaxHTField0" ma:taxonomyFieldName="FeatureTags" ma:displayName="Features" ma:readOnly="false" ma:default="" ma:fieldId="{7fc0d542-15c6-4882-a8e3-13bca44403fb}" ma:taxonomyMulti="true" ma:sspId="8f79753a-75d3-41f5-8ca3-40b843941b4f" ma:termSetId="f1ab6845-967d-4854-a0ba-4ec07f0f811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FriendlyName" ma:index="41" nillable="true" ma:displayName="Friendly Name" ma:default="" ma:internalName="TPFriendlyName">
      <xsd:simpleType>
        <xsd:restriction base="dms:Text"/>
      </xsd:simpleType>
    </xsd:element>
    <xsd:element name="FriendlyTitle" ma:index="42" nillable="true" ma:displayName="Friendly Title" ma:default="" ma:description="Shorter title to be used when displaying search results" ma:internalName="FriendlyTitle" ma:readOnly="false">
      <xsd:simpleType>
        <xsd:restriction base="dms:Text"/>
      </xsd:simpleType>
    </xsd:element>
    <xsd:element name="PrimaryImageGen" ma:index="43" nillable="true" ma:displayName="Generate Images?" ma:default="true" ma:internalName="PrimaryImageGen">
      <xsd:simpleType>
        <xsd:restriction base="dms:Boolean"/>
      </xsd:simpleType>
    </xsd:element>
    <xsd:element name="HandoffToMSDN" ma:index="44" nillable="true" ma:displayName="Handoff To MSDN Date" ma:default="" ma:internalName="HandoffToMSDN" ma:readOnly="false">
      <xsd:simpleType>
        <xsd:restriction base="dms:DateTime"/>
      </xsd:simpleType>
    </xsd:element>
    <xsd:element name="InProjectListLookup" ma:index="45" nillable="true" ma:displayName="InProjectListLookup" ma:list="{9E343742-310B-4684-A24C-1D137CB4B230}" ma:internalName="InProjectListLookup" ma:readOnly="true" ma:showField="InProjectLis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InstallLocation" ma:index="46" nillable="true" ma:displayName="Install Location" ma:default="" ma:internalName="TPInstallLocation">
      <xsd:simpleType>
        <xsd:restriction base="dms:Text"/>
      </xsd:simpleType>
    </xsd:element>
    <xsd:element name="InternalTagsTaxHTField0" ma:index="48" nillable="true" ma:taxonomy="true" ma:internalName="InternalTagsTaxHTField0" ma:taxonomyFieldName="InternalTags" ma:displayName="Internal Tags" ma:readOnly="false" ma:default="" ma:fieldId="{1490b8a4-2706-41ec-b5e3-73176dccf34e}" ma:taxonomyMulti="true" ma:sspId="8f79753a-75d3-41f5-8ca3-40b843941b4f" ma:termSetId="82b6639e-f7fc-4c18-ad2d-003a6e70776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IntlLangReview" ma:index="49" nillable="true" ma:displayName="Intl Lang QA Review Required?" ma:default="" ma:internalName="IntlLangReview" ma:readOnly="false">
      <xsd:simpleType>
        <xsd:restriction base="dms:Boolean"/>
      </xsd:simpleType>
    </xsd:element>
    <xsd:element name="IntlLangReviewer" ma:index="50" nillable="true" ma:displayName="Intl Lang QA Reviewer" ma:default="" ma:internalName="IntlLangReviewer" ma:readOnly="false">
      <xsd:simpleType>
        <xsd:restriction base="dms:Text"/>
      </xsd:simpleType>
    </xsd:element>
    <xsd:element name="MarketSpecific" ma:index="51" nillable="true" ma:displayName="Is Market Specific?" ma:default="" ma:internalName="MarketSpecific" ma:readOnly="false">
      <xsd:simpleType>
        <xsd:restriction base="dms:Boolean"/>
      </xsd:simpleType>
    </xsd:element>
    <xsd:element name="LastCompleteVersionLookup" ma:index="52" nillable="true" ma:displayName="Last Complete Version Lookup" ma:default="" ma:list="{9E343742-310B-4684-A24C-1D137CB4B230}" ma:internalName="LastCompleteVersionLookup" ma:readOnly="true" ma:showField="LastComplete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HandOff" ma:index="53" nillable="true" ma:displayName="Last Hand-off" ma:default="" ma:internalName="LastHandOff" ma:readOnly="false">
      <xsd:simpleType>
        <xsd:restriction base="dms:DateTime"/>
      </xsd:simpleType>
    </xsd:element>
    <xsd:element name="LastModifiedDateTime" ma:index="54" nillable="true" ma:displayName="Last Modified Date" ma:default="" ma:internalName="LastModifiedDateTime" ma:readOnly="false">
      <xsd:simpleType>
        <xsd:restriction base="dms:DateTime"/>
      </xsd:simpleType>
    </xsd:element>
    <xsd:element name="LastPreviewErrorLookup" ma:index="55" nillable="true" ma:displayName="Last Preview Attempt Error" ma:default="" ma:list="{9E343742-310B-4684-A24C-1D137CB4B230}" ma:internalName="LastPreviewErrorLookup" ma:readOnly="true" ma:showField="LastPreview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ResultLookup" ma:index="56" nillable="true" ma:displayName="Last Preview Attempt Result" ma:default="" ma:list="{9E343742-310B-4684-A24C-1D137CB4B230}" ma:internalName="LastPreviewResultLookup" ma:readOnly="true" ma:showField="LastPreview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AttemptDateLookup" ma:index="57" nillable="true" ma:displayName="Last Preview Attempted On" ma:default="" ma:list="{9E343742-310B-4684-A24C-1D137CB4B230}" ma:internalName="LastPreviewAttemptDateLookup" ma:readOnly="true" ma:showField="LastPreview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edByLookup" ma:index="58" nillable="true" ma:displayName="Last Previewed By" ma:default="" ma:list="{9E343742-310B-4684-A24C-1D137CB4B230}" ma:internalName="LastPreviewedByLookup" ma:readOnly="true" ma:showField="LastPreview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TimeLookup" ma:index="59" nillable="true" ma:displayName="Last Previewed Date" ma:default="" ma:list="{9E343742-310B-4684-A24C-1D137CB4B230}" ma:internalName="LastPreviewTimeLookup" ma:readOnly="true" ma:showField="LastPreview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VersionLookup" ma:index="60" nillable="true" ma:displayName="Last Previewed Version" ma:default="" ma:list="{9E343742-310B-4684-A24C-1D137CB4B230}" ma:internalName="LastPreviewVersionLookup" ma:readOnly="true" ma:showField="LastPreview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rrorLookup" ma:index="61" nillable="true" ma:displayName="Last Publish Attempt Error" ma:default="" ma:list="{9E343742-310B-4684-A24C-1D137CB4B230}" ma:internalName="LastPublishErrorLookup" ma:readOnly="true" ma:showField="LastPublish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ResultLookup" ma:index="62" nillable="true" ma:displayName="Last Publish Attempt Result" ma:default="" ma:list="{9E343742-310B-4684-A24C-1D137CB4B230}" ma:internalName="LastPublishResultLookup" ma:readOnly="true" ma:showField="LastPublish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AttemptDateLookup" ma:index="63" nillable="true" ma:displayName="Last Publish Attempted On" ma:default="" ma:list="{9E343742-310B-4684-A24C-1D137CB4B230}" ma:internalName="LastPublishAttemptDateLookup" ma:readOnly="true" ma:showField="LastPublish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dByLookup" ma:index="64" nillable="true" ma:displayName="Last Published By" ma:default="" ma:list="{9E343742-310B-4684-A24C-1D137CB4B230}" ma:internalName="LastPublishedByLookup" ma:readOnly="true" ma:showField="LastPublish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TimeLookup" ma:index="65" nillable="true" ma:displayName="Last Published Date" ma:default="" ma:list="{9E343742-310B-4684-A24C-1D137CB4B230}" ma:internalName="LastPublishTimeLookup" ma:readOnly="true" ma:showField="LastPublish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VersionLookup" ma:index="66" nillable="true" ma:displayName="Last Published Version" ma:default="" ma:list="{9E343742-310B-4684-A24C-1D137CB4B230}" ma:internalName="LastPublishVersionLookup" ma:readOnly="true" ma:showField="LastPublish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LaunchHelpLinkType" ma:index="67" nillable="true" ma:displayName="Launch Help Link Type" ma:default="Template" ma:internalName="TPLaunchHelpLinkType">
      <xsd:simpleType>
        <xsd:restriction base="dms:Choice">
          <xsd:enumeration value="Template"/>
          <xsd:enumeration value="Training"/>
          <xsd:enumeration value="URL"/>
          <xsd:enumeration value="None"/>
        </xsd:restriction>
      </xsd:simpleType>
    </xsd:element>
    <xsd:element name="LegacyData" ma:index="68" nillable="true" ma:displayName="Legacy Data" ma:default="" ma:internalName="LegacyData" ma:readOnly="false">
      <xsd:simpleType>
        <xsd:restriction base="dms:Note"/>
      </xsd:simpleType>
    </xsd:element>
    <xsd:element name="TPLaunchHelpLink" ma:index="69" nillable="true" ma:displayName="Link to Launch Help Topic" ma:default="" ma:internalName="TPLaunchHelpLink">
      <xsd:simpleType>
        <xsd:restriction base="dms:Text"/>
      </xsd:simpleType>
    </xsd:element>
    <xsd:element name="LocComments" ma:index="70" nillable="true" ma:displayName="Loc Approval Comments" ma:default="" ma:internalName="LocComments" ma:readOnly="false">
      <xsd:simpleType>
        <xsd:restriction base="dms:Note"/>
      </xsd:simpleType>
    </xsd:element>
    <xsd:element name="LocLastLocAttemptVersionLookup" ma:index="71" nillable="true" ma:displayName="Loc Last Loc Attempt Version" ma:default="" ma:list="{7DD1DCEC-E449-43D3-891F-7DC62F62AD21}" ma:internalName="LocLastLocAttemptVersionLookup" ma:readOnly="false" ma:showField="LastLocAttemptVersion" ma:web="4873beb7-5857-4685-be1f-d57550cc96cc">
      <xsd:simpleType>
        <xsd:restriction base="dms:Lookup"/>
      </xsd:simpleType>
    </xsd:element>
    <xsd:element name="LocLastLocAttemptVersionTypeLookup" ma:index="72" nillable="true" ma:displayName="Loc Last Loc Attempt Version Type" ma:default="" ma:list="{7DD1DCEC-E449-43D3-891F-7DC62F62AD21}" ma:internalName="LocLastLocAttemptVersionTypeLookup" ma:readOnly="true" ma:showField="LastLocAttemptVersionType" ma:web="4873beb7-5857-4685-be1f-d57550cc96cc">
      <xsd:simpleType>
        <xsd:restriction base="dms:Lookup"/>
      </xsd:simpleType>
    </xsd:element>
    <xsd:element name="LocManualTestRequired" ma:index="73" nillable="true" ma:displayName="Loc Manual Test Required" ma:default="" ma:internalName="LocManualTestRequired" ma:readOnly="false">
      <xsd:simpleType>
        <xsd:restriction base="dms:Boolean"/>
      </xsd:simpleType>
    </xsd:element>
    <xsd:element name="LocMarketGroupTiers2" ma:index="74" nillable="true" ma:displayName="Loc Market Group Tiers" ma:internalName="LocMarketGroupTiers2" ma:readOnly="false">
      <xsd:simpleType>
        <xsd:restriction base="dms:Unknown"/>
      </xsd:simpleType>
    </xsd:element>
    <xsd:element name="LocNewPublishedVersionLookup" ma:index="75" nillable="true" ma:displayName="Loc New Published Version Lookup" ma:default="" ma:list="{7DD1DCEC-E449-43D3-891F-7DC62F62AD21}" ma:internalName="LocNewPublishedVersionLookup" ma:readOnly="true" ma:showField="NewPublishedVersion" ma:web="4873beb7-5857-4685-be1f-d57550cc96cc">
      <xsd:simpleType>
        <xsd:restriction base="dms:Lookup"/>
      </xsd:simpleType>
    </xsd:element>
    <xsd:element name="LocOverallHandbackStatusLookup" ma:index="76" nillable="true" ma:displayName="Loc Overall Handback Status" ma:default="" ma:list="{7DD1DCEC-E449-43D3-891F-7DC62F62AD21}" ma:internalName="LocOverallHandbackStatusLookup" ma:readOnly="true" ma:showField="OverallHandbackStatus" ma:web="4873beb7-5857-4685-be1f-d57550cc96cc">
      <xsd:simpleType>
        <xsd:restriction base="dms:Lookup"/>
      </xsd:simpleType>
    </xsd:element>
    <xsd:element name="LocOverallLocStatusLookup" ma:index="77" nillable="true" ma:displayName="Loc Overall Localize Status" ma:default="" ma:list="{7DD1DCEC-E449-43D3-891F-7DC62F62AD21}" ma:internalName="LocOverallLocStatusLookup" ma:readOnly="true" ma:showField="OverallLocStatus" ma:web="4873beb7-5857-4685-be1f-d57550cc96cc">
      <xsd:simpleType>
        <xsd:restriction base="dms:Lookup"/>
      </xsd:simpleType>
    </xsd:element>
    <xsd:element name="LocOverallPreviewStatusLookup" ma:index="78" nillable="true" ma:displayName="Loc Overall Preview Status" ma:default="" ma:list="{7DD1DCEC-E449-43D3-891F-7DC62F62AD21}" ma:internalName="LocOverallPreviewStatusLookup" ma:readOnly="true" ma:showField="OverallPreviewStatus" ma:web="4873beb7-5857-4685-be1f-d57550cc96cc">
      <xsd:simpleType>
        <xsd:restriction base="dms:Lookup"/>
      </xsd:simpleType>
    </xsd:element>
    <xsd:element name="LocOverallPublishStatusLookup" ma:index="79" nillable="true" ma:displayName="Loc Overall Publish Status" ma:default="" ma:list="{7DD1DCEC-E449-43D3-891F-7DC62F62AD21}" ma:internalName="LocOverallPublishStatusLookup" ma:readOnly="true" ma:showField="OverallPublishStatus" ma:web="4873beb7-5857-4685-be1f-d57550cc96cc">
      <xsd:simpleType>
        <xsd:restriction base="dms:Lookup"/>
      </xsd:simpleType>
    </xsd:element>
    <xsd:element name="IntlLocPriority" ma:index="80" nillable="true" ma:displayName="Loc Priority" ma:default="" ma:internalName="IntlLocPriority" ma:readOnly="false">
      <xsd:simpleType>
        <xsd:restriction base="dms:Unknown"/>
      </xsd:simpleType>
    </xsd:element>
    <xsd:element name="LocProcessedForHandoffsLookup" ma:index="81" nillable="true" ma:displayName="Loc Processed For Handoffs" ma:default="" ma:list="{7DD1DCEC-E449-43D3-891F-7DC62F62AD21}" ma:internalName="LocProcessedForHandoffsLookup" ma:readOnly="true" ma:showField="ProcessedForHandoffs" ma:web="4873beb7-5857-4685-be1f-d57550cc96cc">
      <xsd:simpleType>
        <xsd:restriction base="dms:Lookup"/>
      </xsd:simpleType>
    </xsd:element>
    <xsd:element name="LocProcessedForMarketsLookup" ma:index="82" nillable="true" ma:displayName="Loc Processed For Markets" ma:default="" ma:list="{7DD1DCEC-E449-43D3-891F-7DC62F62AD21}" ma:internalName="LocProcessedForMarketsLookup" ma:readOnly="true" ma:showField="ProcessedForMarkets" ma:web="4873beb7-5857-4685-be1f-d57550cc96cc">
      <xsd:simpleType>
        <xsd:restriction base="dms:Lookup"/>
      </xsd:simpleType>
    </xsd:element>
    <xsd:element name="LocPublishedDependentAssetsLookup" ma:index="83" nillable="true" ma:displayName="Loc Published Dependent Assets" ma:default="" ma:list="{7DD1DCEC-E449-43D3-891F-7DC62F62AD21}" ma:internalName="LocPublishedDependentAssetsLookup" ma:readOnly="true" ma:showField="PublishedDependentAssets" ma:web="4873beb7-5857-4685-be1f-d57550cc96cc">
      <xsd:simpleType>
        <xsd:restriction base="dms:Lookup"/>
      </xsd:simpleType>
    </xsd:element>
    <xsd:element name="LocPublishedLinkedAssetsLookup" ma:index="84" nillable="true" ma:displayName="Loc Published Linked Assets" ma:default="" ma:list="{7DD1DCEC-E449-43D3-891F-7DC62F62AD21}" ma:internalName="LocPublishedLinkedAssetsLookup" ma:readOnly="true" ma:showField="PublishedLinkedAssets" ma:web="4873beb7-5857-4685-be1f-d57550cc96cc">
      <xsd:simpleType>
        <xsd:restriction base="dms:Lookup"/>
      </xsd:simpleType>
    </xsd:element>
    <xsd:element name="LocRecommendedHandoff" ma:index="85" nillable="true" ma:displayName="Loc Recommended Handoff" ma:default="" ma:indexed="true" ma:internalName="LocRecommendedHandoff" ma:readOnly="false">
      <xsd:simpleType>
        <xsd:restriction base="dms:Text"/>
      </xsd:simpleType>
    </xsd:element>
    <xsd:element name="LocalizationTagsTaxHTField0" ma:index="87" nillable="true" ma:taxonomy="true" ma:internalName="LocalizationTagsTaxHTField0" ma:taxonomyFieldName="LocalizationTags" ma:displayName="Localization Tags" ma:readOnly="false" ma:default="" ma:fieldId="{00f02cb3-2c7c-424a-9c61-10e9b6878429}" ma:taxonomyMulti="true" ma:sspId="8f79753a-75d3-41f5-8ca3-40b843941b4f" ma:termSetId="5b7703a5-8e8b-4b58-8b31-1cea35331da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achineTranslated" ma:index="88" nillable="true" ma:displayName="Machine Translated" ma:default="" ma:internalName="MachineTranslated" ma:readOnly="false">
      <xsd:simpleType>
        <xsd:restriction base="dms:Boolean"/>
      </xsd:simpleType>
    </xsd:element>
    <xsd:element name="Manager" ma:index="89" nillable="true" ma:displayName="Manager" ma:hidden="true" ma:internalName="Manager" ma:readOnly="false">
      <xsd:simpleType>
        <xsd:restriction base="dms:Text"/>
      </xsd:simpleType>
    </xsd:element>
    <xsd:element name="Markets" ma:index="90" nillable="true" ma:displayName="Markets" ma:default="" ma:description="Leave blank to show in all markets" ma:list="{2FBD1B11-2ACE-4FDC-B5A3-635D4ADF6F1B}" ma:internalName="Markets" ma:readOnly="false" ma:showField="MarketNa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Milestone" ma:index="91" nillable="true" ma:displayName="Milestone" ma:default="" ma:internalName="Milestone" ma:readOnly="false">
      <xsd:simpleType>
        <xsd:restriction base="dms:Unknown"/>
      </xsd:simpleType>
    </xsd:element>
    <xsd:element name="TPNamespace" ma:index="94" nillable="true" ma:displayName="Namespace" ma:default="" ma:internalName="TPNamespace">
      <xsd:simpleType>
        <xsd:restriction base="dms:Text"/>
      </xsd:simpleType>
    </xsd:element>
    <xsd:element name="NumericId" ma:index="95" nillable="true" ma:displayName="Numeric ID" ma:default="" ma:indexed="true" ma:internalName="NumericId" ma:readOnly="false">
      <xsd:simpleType>
        <xsd:restriction base="dms:Number"/>
      </xsd:simpleType>
    </xsd:element>
    <xsd:element name="NumOfRatingsLookup" ma:index="96" nillable="true" ma:displayName="NumOfRatings" ma:default="" ma:list="{9E343742-310B-4684-A24C-1D137CB4B230}" ma:internalName="NumOfRatingsLookup" ma:readOnly="true" ma:showField="NumOfRating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OOCacheId" ma:index="97" nillable="true" ma:displayName="OOCacheId" ma:internalName="OOCacheId" ma:readOnly="false">
      <xsd:simpleType>
        <xsd:restriction base="dms:Text"/>
      </xsd:simpleType>
    </xsd:element>
    <xsd:element name="OpenTemplate" ma:index="98" nillable="true" ma:displayName="Open Template" ma:default="true" ma:internalName="OpenTemplate">
      <xsd:simpleType>
        <xsd:restriction base="dms:Boolean"/>
      </xsd:simpleType>
    </xsd:element>
    <xsd:element name="OriginAsset" ma:index="99" nillable="true" ma:displayName="Origin Asset" ma:default="" ma:internalName="OriginAsset" ma:readOnly="false">
      <xsd:simpleType>
        <xsd:restriction base="dms:Text"/>
      </xsd:simpleType>
    </xsd:element>
    <xsd:element name="OriginalRelease" ma:index="100" nillable="true" ma:displayName="Original Release" ma:default="15" ma:internalName="OriginalRelease" ma:readOnly="false">
      <xsd:simpleType>
        <xsd:restriction base="dms:Choice">
          <xsd:enumeration value="14"/>
          <xsd:enumeration value="15"/>
          <xsd:enumeration value="16"/>
        </xsd:restriction>
      </xsd:simpleType>
    </xsd:element>
    <xsd:element name="OriginalSourceMarket" ma:index="101" nillable="true" ma:displayName="Original Source Market Group" ma:default="" ma:internalName="OriginalSourceMarket" ma:readOnly="false">
      <xsd:simpleType>
        <xsd:restriction base="dms:Text"/>
      </xsd:simpleType>
    </xsd:element>
    <xsd:element name="OutputCachingOn" ma:index="102" nillable="true" ma:displayName="Output Caching" ma:default="true" ma:hidden="true" ma:internalName="OutputCachingOn" ma:readOnly="false">
      <xsd:simpleType>
        <xsd:restriction base="dms:Boolean"/>
      </xsd:simpleType>
    </xsd:element>
    <xsd:element name="ParentAssetId" ma:index="103" nillable="true" ma:displayName="Parent Asset Id" ma:default="" ma:internalName="ParentAssetId" ma:readOnly="false">
      <xsd:simpleType>
        <xsd:restriction base="dms:Text"/>
      </xsd:simpleType>
    </xsd:element>
    <xsd:element name="PlannedPubDate" ma:index="104" nillable="true" ma:displayName="Planned Publish Date" ma:default="" ma:indexed="true" ma:internalName="PlannedPubDate" ma:readOnly="false">
      <xsd:simpleType>
        <xsd:restriction base="dms:DateTime"/>
      </xsd:simpleType>
    </xsd:element>
    <xsd:element name="PolicheckWords" ma:index="105" nillable="true" ma:displayName="Policheck Words" ma:default="" ma:internalName="PolicheckWords" ma:readOnly="false">
      <xsd:simpleType>
        <xsd:restriction base="dms:Text"/>
      </xsd:simpleType>
    </xsd:element>
    <xsd:element name="BusinessGroup" ma:index="106" nillable="true" ma:displayName="Product Division Owner" ma:default="" ma:internalName="BusinessGroup" ma:readOnly="false">
      <xsd:simpleType>
        <xsd:restriction base="dms:Unknown"/>
      </xsd:simpleType>
    </xsd:element>
    <xsd:element name="UAProjectedTotalWords" ma:index="107" nillable="true" ma:displayName="Projected Word Count" ma:default="" ma:internalName="UAProjectedTotalWords" ma:readOnly="false">
      <xsd:simpleType>
        <xsd:restriction base="dms:Unknown"/>
      </xsd:simpleType>
    </xsd:element>
    <xsd:element name="Provider" ma:index="108" nillable="true" ma:displayName="Provider" ma:default="" ma:internalName="Provider" ma:readOnly="false">
      <xsd:simpleType>
        <xsd:restriction base="dms:Unknown"/>
      </xsd:simpleType>
    </xsd:element>
    <xsd:element name="Providers" ma:index="109" nillable="true" ma:displayName="Providers" ma:default="" ma:internalName="Providers">
      <xsd:simpleType>
        <xsd:restriction base="dms:Unknown"/>
      </xsd:simpleType>
    </xsd:element>
    <xsd:element name="PublishStatusLookup" ma:index="110" nillable="true" ma:displayName="Publish Status" ma:default="" ma:list="{9E343742-310B-4684-A24C-1D137CB4B230}" ma:internalName="PublishStatusLookup" ma:readOnly="false" ma:showField="PublishStatu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PublishTargets" ma:index="111" nillable="true" ma:displayName="Publish Target" ma:default="OfficeOnlineVNext" ma:internalName="PublishTargets" ma:readOnly="false">
      <xsd:simpleType>
        <xsd:restriction base="dms:Unknown"/>
      </xsd:simpleType>
    </xsd:element>
    <xsd:element name="RecommendationsModifier" ma:index="112" nillable="true" ma:displayName="Recommendations Modifier" ma:default="" ma:internalName="RecommendationsModifier" ma:readOnly="false">
      <xsd:simpleType>
        <xsd:restriction base="dms:Number"/>
      </xsd:simpleType>
    </xsd:element>
    <xsd:element name="ArtSampleDocs" ma:index="113" nillable="true" ma:displayName="Sample Docs" ma:default="" ma:hidden="true" ma:internalName="ArtSampleDocs" ma:readOnly="false">
      <xsd:simpleType>
        <xsd:restriction base="dms:Text"/>
      </xsd:simpleType>
    </xsd:element>
    <xsd:element name="ScenarioTagsTaxHTField0" ma:index="115" nillable="true" ma:taxonomy="true" ma:internalName="ScenarioTagsTaxHTField0" ma:taxonomyFieldName="ScenarioTags" ma:displayName="Scenarios" ma:readOnly="false" ma:default="" ma:fieldId="{93aef74d-6c78-4815-8310-51477dceeccc}" ma:taxonomyMulti="true" ma:sspId="8f79753a-75d3-41f5-8ca3-40b843941b4f" ma:termSetId="4b7d5f16-e2f2-4fc0-bab3-6e8b931e57d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howIn" ma:index="117" nillable="true" ma:displayName="Show In" ma:default="Show everywhere" ma:internalName="ShowIn" ma:readOnly="false">
      <xsd:simpleType>
        <xsd:restriction base="dms:Choice">
          <xsd:enumeration value="Hide on web"/>
          <xsd:enumeration value="On Web no search"/>
          <xsd:enumeration value="Show everywhere"/>
          <xsd:enumeration value="Special use only"/>
        </xsd:restriction>
      </xsd:simpleType>
    </xsd:element>
    <xsd:element name="SourceTitle" ma:index="118" nillable="true" ma:displayName="Source Title" ma:default="" ma:indexed="true" ma:internalName="SourceTitle" ma:readOnly="false">
      <xsd:simpleType>
        <xsd:restriction base="dms:Text"/>
      </xsd:simpleType>
    </xsd:element>
    <xsd:element name="CSXSubmissionDate" ma:index="119" nillable="true" ma:displayName="Submission Date" ma:default="" ma:internalName="CSXSubmissionDate" ma:readOnly="false">
      <xsd:simpleType>
        <xsd:restriction base="dms:DateTime"/>
      </xsd:simpleType>
    </xsd:element>
    <xsd:element name="SubmitterId" ma:index="120" nillable="true" ma:displayName="Submitter ID" ma:default="" ma:internalName="SubmitterId" ma:readOnly="false">
      <xsd:simpleType>
        <xsd:restriction base="dms:Text"/>
      </xsd:simpleType>
    </xsd:element>
    <xsd:element name="TaxCatchAll" ma:index="121" nillable="true" ma:displayName="Taxonomy Catch All Column" ma:hidden="true" ma:list="{530f955b-6704-4601-bd83-f81d87f1e440}" ma:internalName="TaxCatchAll" ma:showField="CatchAllData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22" nillable="true" ma:displayName="Taxonomy Catch All Column1" ma:hidden="true" ma:list="{530f955b-6704-4601-bd83-f81d87f1e440}" ma:internalName="TaxCatchAllLabel" ma:readOnly="true" ma:showField="CatchAllDataLabel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emplateStatus" ma:index="123" nillable="true" ma:displayName="Template Status" ma:default="" ma:internalName="TemplateStatus">
      <xsd:simpleType>
        <xsd:restriction base="dms:Unknown"/>
      </xsd:simpleType>
    </xsd:element>
    <xsd:element name="TemplateTemplateType" ma:index="124" nillable="true" ma:displayName="Template Type" ma:default="" ma:internalName="TemplateTemplateType">
      <xsd:simpleType>
        <xsd:restriction base="dms:Unknown"/>
      </xsd:simpleType>
    </xsd:element>
    <xsd:element name="ThumbnailAssetId" ma:index="125" nillable="true" ma:displayName="Thumbnail Image Asset" ma:default="" ma:internalName="ThumbnailAssetId" ma:readOnly="false">
      <xsd:simpleType>
        <xsd:restriction base="dms:Text"/>
      </xsd:simpleType>
    </xsd:element>
    <xsd:element name="TimesCloned" ma:index="126" nillable="true" ma:displayName="Times Cloned" ma:default="" ma:internalName="TimesCloned" ma:readOnly="false">
      <xsd:simpleType>
        <xsd:restriction base="dms:Number"/>
      </xsd:simpleType>
    </xsd:element>
    <xsd:element name="TrustLevel" ma:index="128" nillable="true" ma:displayName="Trust Level" ma:default="1 Microsoft Managed Content" ma:internalName="TrustLevel" ma:readOnly="false">
      <xsd:simpleType>
        <xsd:restriction base="dms:Unknown"/>
      </xsd:simpleType>
    </xsd:element>
    <xsd:element name="UALocComments" ma:index="129" nillable="true" ma:displayName="UA Loc Comments" ma:default="" ma:internalName="UALocComments" ma:readOnly="false">
      <xsd:simpleType>
        <xsd:restriction base="dms:Note"/>
      </xsd:simpleType>
    </xsd:element>
    <xsd:element name="UALocRecommendation" ma:index="130" nillable="true" ma:displayName="UA Loc Recommendation" ma:default="Localize" ma:internalName="UALocRecommendation" ma:readOnly="false">
      <xsd:simpleType>
        <xsd:restriction base="dms:Choice">
          <xsd:enumeration value="Localize"/>
          <xsd:enumeration value="Never Localize"/>
          <xsd:enumeration value="Priority Localize"/>
        </xsd:restriction>
      </xsd:simpleType>
    </xsd:element>
    <xsd:element name="UANotes" ma:index="131" nillable="true" ma:displayName="UA Notes" ma:default="" ma:internalName="UANotes" ma:readOnly="false">
      <xsd:simpleType>
        <xsd:restriction base="dms:Note"/>
      </xsd:simpleType>
    </xsd:element>
    <xsd:element name="TPAppVersion" ma:index="132" nillable="true" ma:displayName="Version" ma:default="" ma:internalName="TPAppVersion">
      <xsd:simpleType>
        <xsd:restriction base="dms:Text"/>
      </xsd:simpleType>
    </xsd:element>
    <xsd:element name="VoteCount" ma:index="133" nillable="true" ma:displayName="Vote Count" ma:default="" ma:internalName="VoteCount" ma:readOnly="fals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22" ma:displayName="Content Type"/>
        <xsd:element ref="dc:title" minOccurs="0" maxOccurs="1" ma:index="127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836F65B-1B07-41EE-A0E8-BC6EF385522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0C67BEE-D13F-4BD2-98A5-34D8A0977F68}">
  <ds:schemaRefs>
    <ds:schemaRef ds:uri="4873beb7-5857-4685-be1f-d57550cc96cc"/>
    <ds:schemaRef ds:uri="http://schemas.openxmlformats.org/package/2006/metadata/core-properties"/>
    <ds:schemaRef ds:uri="http://purl.org/dc/terms/"/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A09BF4D4-EF60-4196-BFC3-9462D607978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873beb7-5857-4685-be1f-d57550cc96c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Triple circuit lines presentation (widescreen)</Template>
  <TotalTime>1491</TotalTime>
  <Words>1713</Words>
  <Application>Microsoft Office PowerPoint</Application>
  <PresentationFormat>Custom</PresentationFormat>
  <Paragraphs>217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1" baseType="lpstr">
      <vt:lpstr>Arial</vt:lpstr>
      <vt:lpstr>Calibri</vt:lpstr>
      <vt:lpstr>Courier New</vt:lpstr>
      <vt:lpstr>Tech 16x9</vt:lpstr>
      <vt:lpstr>Theory of NP-Completeness</vt:lpstr>
      <vt:lpstr>Decision Problems</vt:lpstr>
      <vt:lpstr>Decision Problems</vt:lpstr>
      <vt:lpstr>Class P  and Class NP</vt:lpstr>
      <vt:lpstr>Class P  and Class NP</vt:lpstr>
      <vt:lpstr>Hamiltonian Cycle Decision Problem is in NP</vt:lpstr>
      <vt:lpstr>PowerPoint Presentation</vt:lpstr>
      <vt:lpstr>Optimization Problems</vt:lpstr>
      <vt:lpstr>Optimization Problems</vt:lpstr>
      <vt:lpstr>Optimization Problems</vt:lpstr>
      <vt:lpstr>PowerPoint Presentation</vt:lpstr>
      <vt:lpstr>Class P  and Class NP</vt:lpstr>
      <vt:lpstr>Class P  and Class NP</vt:lpstr>
      <vt:lpstr>Class NP-hard and Class NP-complete</vt:lpstr>
      <vt:lpstr>Polynomial-time reductions</vt:lpstr>
      <vt:lpstr>Polynomial-time reductions </vt:lpstr>
      <vt:lpstr>Polynomial-time reduction from HC to TSP </vt:lpstr>
      <vt:lpstr>Polynomial-time reduction from HC to TSP</vt:lpstr>
      <vt:lpstr>Polynomial-time reduction from HC to TSP</vt:lpstr>
      <vt:lpstr>Class NP-hard</vt:lpstr>
      <vt:lpstr>Class NP-hard</vt:lpstr>
      <vt:lpstr>Class NP-complete</vt:lpstr>
      <vt:lpstr>Class NP-complete</vt:lpstr>
      <vt:lpstr>Class NP-complete</vt:lpstr>
      <vt:lpstr>Class NP-complete</vt:lpstr>
      <vt:lpstr>Class NP-complete</vt:lpstr>
      <vt:lpstr>Some important NP-complete problems</vt:lpstr>
    </vt:vector>
  </TitlesOfParts>
  <Company>WNE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Theory of NP-Completeness</dc:title>
  <dc:creator>Lisa Hansen</dc:creator>
  <cp:lastModifiedBy>Lisa Hansen</cp:lastModifiedBy>
  <cp:revision>33</cp:revision>
  <dcterms:created xsi:type="dcterms:W3CDTF">2023-12-04T14:54:11Z</dcterms:created>
  <dcterms:modified xsi:type="dcterms:W3CDTF">2023-12-05T15:51:33Z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0x0101006EDDDB5EE6D98C44930B742096920B300400F5B6D36B3EF94B4E9A635CDF2A18F5B8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CampaignTags">
    <vt:lpwstr/>
  </property>
  <property fmtid="{D5CDD505-2E9C-101B-9397-08002B2CF9AE}" pid="7" name="ScenarioTags">
    <vt:lpwstr/>
  </property>
  <property fmtid="{D5CDD505-2E9C-101B-9397-08002B2CF9AE}" pid="8" name="MSIP_Label_cc4f9dd6-a4b8-4763-a61d-db8d0cf51108_Enabled">
    <vt:lpwstr>true</vt:lpwstr>
  </property>
  <property fmtid="{D5CDD505-2E9C-101B-9397-08002B2CF9AE}" pid="9" name="MSIP_Label_cc4f9dd6-a4b8-4763-a61d-db8d0cf51108_SetDate">
    <vt:lpwstr>2023-12-04T14:54:44Z</vt:lpwstr>
  </property>
  <property fmtid="{D5CDD505-2E9C-101B-9397-08002B2CF9AE}" pid="10" name="MSIP_Label_cc4f9dd6-a4b8-4763-a61d-db8d0cf51108_Method">
    <vt:lpwstr>Standard</vt:lpwstr>
  </property>
  <property fmtid="{D5CDD505-2E9C-101B-9397-08002B2CF9AE}" pid="11" name="MSIP_Label_cc4f9dd6-a4b8-4763-a61d-db8d0cf51108_Name">
    <vt:lpwstr>defa4170-0d19-0005-0004-bc88714345d2</vt:lpwstr>
  </property>
  <property fmtid="{D5CDD505-2E9C-101B-9397-08002B2CF9AE}" pid="12" name="MSIP_Label_cc4f9dd6-a4b8-4763-a61d-db8d0cf51108_SiteId">
    <vt:lpwstr>b5a5796f-19a9-493f-9cb2-7a88b4e9b123</vt:lpwstr>
  </property>
  <property fmtid="{D5CDD505-2E9C-101B-9397-08002B2CF9AE}" pid="13" name="MSIP_Label_cc4f9dd6-a4b8-4763-a61d-db8d0cf51108_ActionId">
    <vt:lpwstr>861685c1-0a04-4361-95fc-601aa1096f38</vt:lpwstr>
  </property>
  <property fmtid="{D5CDD505-2E9C-101B-9397-08002B2CF9AE}" pid="14" name="MSIP_Label_cc4f9dd6-a4b8-4763-a61d-db8d0cf51108_ContentBits">
    <vt:lpwstr>0</vt:lpwstr>
  </property>
</Properties>
</file>